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5731321-ab73-c719-b3cf-b5e43afed8cd}">
          <p14:sldIdLst>
            <p14:sldId id="256"/>
            <p14:sldId id="257"/>
          </p14:sldIdLst>
        </p14:section>
        <p14:section name="How it is built" id="{4bebf633-11c3-b1bb-629e-e5f7110442e9}">
          <p14:sldIdLst>
            <p14:sldId id="258"/>
            <p14:sldId id="259"/>
          </p14:sldIdLst>
        </p14:section>
        <p14:section name="Features and database" id="{9d766db9-89b0-e602-a523-46a64ebfa89f}">
          <p14:sldIdLst>
            <p14:sldId id="260"/>
            <p14:sldId id="261"/>
          </p14:sldIdLst>
        </p14:section>
        <p14:section name="Demo and conclusion" id="{98f633be-f237-6cc0-c3aa-b45f8e7fe695}">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Mohammad Adnan  (about 0:30)
Good morning, everyone. We are Mohammad Adnan, Lucky Dhall, Raja and Sumit.
Our DBMS project is called SE-EWRS, the Student Engagement and Early Warning Risk System.
In simple words, it is a web application that helps teachers find struggling students early, so they can help them in time.
I will explain the problem. Lucky will explain the design and technology, Raja will explain the features and the database, and Sumit will show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Mohammad Adnan  (about 1:00)
Colleges already collect a lot of data about students: attendance, marks, and how often they log in to the learning portal.
But this data is usually checked only after a student fails an exam. By then, it is often too late to help.
We built SE-EWRS to change that. It collects attendance, marks and online activity, and calculates a risk score for every student in every course.
When the score is too high, it raises an alert automatically, and staff can record what they did to help.
Our goal is simple: find struggling students early, before they fail. Now Lucky will explain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Lucky Dhall  (about 1:15)
Thank you, Adnan. Our system has three parts.
First, the frontend, built with React. This is what staff see in the browser: the dashboard, student pages, alerts and reports.
Second, the backend, built with FastAPI in Python. It receives each request, checks that the user is logged in and has permission, and runs the logic, such as the risk calculation.
Third, the MySQL database. It stores all the data, and it also does real work using views, stored procedures and triggers.
At the bottom you can see one request: the user clicks, the backend checks permission, MySQL runs the query, and the result comes back as charts and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Lucky Dhall  (about 1:00)
These are the main technologies we used.
React and Vite build the web pages, Tailwind CSS gives them a clean look, and Recharts draws the charts.
On the server, FastAPI is our Python web framework, and SQLAlchemy with PyMySQL connects Python to MySQL. MySQL 8 is our database.
For security, we use JWT tokens for login, and Argon2 to store passwords safely as hashes.
We used pytest and Vitest for automatic testing. The project has 526 backend tests and 98 frontend tests. Now Raja will explain the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Raja  (about 1:30)
Thank you, Lucky. These are our six main features.
Student management lets staff add, search and filter students, and open a full profile. Attendance lets a teacher mark a whole class at once.
Assessments store assignments, quizzes and exams. The system rejects wrong marks, for example a mark higher than the maximum.
The heart of the project is risk scoring. As shown at the bottom, the score is 35% attendance risk, 40% academic risk and 25% engagement risk. Below 30 is low, 30 to 59 is medium, and 60 or more is high.
When a score reaches 30, an alert is raised automatically, and there can be only one open alert per student per course. There are also seven reports with charts and CSV export.
One important point: if data is missing, for example no marks yet, we do not count it as zero. We leave that part out, so no student is flagged unfairly.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Raja  (about 1:30)
Now the database design, which is the core of a DBMS project. We have 16 tables in third normal form.
The most important table is enrollments. It links a student to a course, so it handles the many-to-many relationship between students and courses.
As the diagram shows, every other record (attendance, marks, online activity, risk scores and alerts) is linked to an enrollment. So the database itself stops mistakes like recording attendance for a student who is not in that course.
The database also does real work: constraints and triggers block wrong data, a stored procedure calculates the risk score inside MySQL, and triggers keep an audit log of changes.
In total we have 16 tables, 12 views, 9 stored procedures and functions, and 12 triggers. Now Sumit will show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Sumit  (about 2:30)
Thank you, Raja. I will now show the live system. [Log in as the administrator.]
This is the dashboard. It shows 36 students, 6 courses, 80 enrolments and 35 open alerts. The risk distribution is 9 high, 26 medium, 41 low, and 4 that need more data. Every number comes from SQL queries.
[Open Students, set Risk band to High, open Pooja Shetty.] This is a student profile. Pooja's attendance is 52.3% and her assessment average is 12%, so both of her courses are high risk.
[Open Risk analysis, then Aisha Menon in MTH201.] Here we see exactly how the score was built. Aisha scores 77.8 out of 100, which is high risk. The reasons are listed: 33% attendance, weak marks, 4 missing submissions and no online activity for 24 days.
[Open Alerts.] This is the alert queue. These alerts were created automatically. Staff can open an alert, move it from New to Acknowledged, In Progress and Resolved, and record an intervention such as a counselling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Sumit  (about 0:45)
To conclude: we built a working web application on a MySQL database with 16 tables, views, procedures and triggers.
It gives clear risk scores with reasons, raises alerts automatically, and supports five staff roles. We tested it with more than 600 automatic tests and checked it on a real MySQL 8 server.
In the future, it could connect directly to a real learning portal, send email or SMS alerts, offer a view for students, and try machine-learning prediction next to our rule-based score.
Thank you.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SE-EWRS  ·  DBMS Course Project  ·  Department of Mathematics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51560"/>
            <a:ext cx="64008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DBMS COURSE PROJECT</a:t>
            </a:r>
            <a:endParaRPr lang="en-US" sz="1400" dirty="0"/>
          </a:p>
        </p:txBody>
      </p:sp>
      <p:sp>
        <p:nvSpPr>
          <p:cNvPr id="3" name="Text 1"/>
          <p:cNvSpPr txBox="1"/>
          <p:nvPr/>
        </p:nvSpPr>
        <p:spPr>
          <a:xfrm>
            <a:off x="731520" y="1463040"/>
            <a:ext cx="7315200" cy="109728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SE-EWRS</a:t>
            </a:r>
            <a:endParaRPr lang="en-US" sz="6600" dirty="0"/>
          </a:p>
        </p:txBody>
      </p:sp>
      <p:sp>
        <p:nvSpPr>
          <p:cNvPr id="4" name="Text 2"/>
          <p:cNvSpPr txBox="1"/>
          <p:nvPr/>
        </p:nvSpPr>
        <p:spPr>
          <a:xfrm>
            <a:off x="731520" y="2606040"/>
            <a:ext cx="7498080" cy="548640"/>
          </a:xfrm>
          <a:prstGeom prst="rect">
            <a:avLst/>
          </a:prstGeom>
          <a:noFill/>
          <a:ln/>
        </p:spPr>
        <p:txBody>
          <a:bodyPr wrap="square" lIns="0" tIns="0" rIns="0" bIns="0" rtlCol="0" anchor="ctr"/>
          <a:lstStyle/>
          <a:p>
            <a:pPr indent="0" marL="0">
              <a:buNone/>
            </a:pPr>
            <a:r>
              <a:rPr lang="en-US" sz="2400" dirty="0">
                <a:solidFill>
                  <a:schemeClr val="bg1"/>
                </a:solidFill>
              </a:rPr>
              <a:t>Student Engagement &amp; Early Warning Risk System</a:t>
            </a:r>
            <a:endParaRPr lang="en-US" sz="2400" dirty="0"/>
          </a:p>
        </p:txBody>
      </p:sp>
      <p:sp>
        <p:nvSpPr>
          <p:cNvPr id="5" name="Text 3"/>
          <p:cNvSpPr txBox="1"/>
          <p:nvPr/>
        </p:nvSpPr>
        <p:spPr>
          <a:xfrm>
            <a:off x="731520" y="3154680"/>
            <a:ext cx="7498080" cy="457200"/>
          </a:xfrm>
          <a:prstGeom prst="rect">
            <a:avLst/>
          </a:prstGeom>
          <a:noFill/>
          <a:ln/>
        </p:spPr>
        <p:txBody>
          <a:bodyPr wrap="square" lIns="0" tIns="0" rIns="0" bIns="0" rtlCol="0" anchor="ctr"/>
          <a:lstStyle/>
          <a:p>
            <a:pPr indent="0" marL="0">
              <a:buNone/>
            </a:pPr>
            <a:r>
              <a:rPr lang="en-US" sz="1800" i="1" dirty="0">
                <a:solidFill>
                  <a:srgbClr val="CADCFC"/>
                </a:solidFill>
              </a:rPr>
              <a:t>Finding struggling students early, before they fail</a:t>
            </a:r>
            <a:endParaRPr lang="en-US" sz="1800" dirty="0"/>
          </a:p>
        </p:txBody>
      </p:sp>
      <p:sp>
        <p:nvSpPr>
          <p:cNvPr id="6" name="Text 4"/>
          <p:cNvSpPr txBox="1"/>
          <p:nvPr/>
        </p:nvSpPr>
        <p:spPr>
          <a:xfrm>
            <a:off x="731520" y="3977640"/>
            <a:ext cx="7772400" cy="365760"/>
          </a:xfrm>
          <a:prstGeom prst="rect">
            <a:avLst/>
          </a:prstGeom>
          <a:noFill/>
          <a:ln/>
        </p:spPr>
        <p:txBody>
          <a:bodyPr wrap="square" lIns="0" tIns="0" rIns="0" bIns="0" rtlCol="0" anchor="ctr"/>
          <a:lstStyle/>
          <a:p>
            <a:pPr indent="0" marL="0">
              <a:buNone/>
            </a:pPr>
            <a:r>
              <a:rPr lang="en-US" sz="1600" dirty="0">
                <a:solidFill>
                  <a:srgbClr val="CADCFC"/>
                </a:solidFill>
              </a:rPr>
              <a:t>Course: Database Management Systems   ·   Department of Mathematics</a:t>
            </a:r>
            <a:endParaRPr lang="en-US" sz="1600" dirty="0"/>
          </a:p>
        </p:txBody>
      </p:sp>
      <p:sp>
        <p:nvSpPr>
          <p:cNvPr id="7" name="Text 5"/>
          <p:cNvSpPr txBox="1"/>
          <p:nvPr/>
        </p:nvSpPr>
        <p:spPr>
          <a:xfrm>
            <a:off x="731520" y="4800600"/>
            <a:ext cx="3657600" cy="320040"/>
          </a:xfrm>
          <a:prstGeom prst="rect">
            <a:avLst/>
          </a:prstGeom>
          <a:noFill/>
          <a:ln/>
        </p:spPr>
        <p:txBody>
          <a:bodyPr wrap="square" lIns="0" tIns="0" rIns="0" bIns="0" rtlCol="0" anchor="ctr"/>
          <a:lstStyle/>
          <a:p>
            <a:pPr indent="0" marL="0">
              <a:buNone/>
            </a:pPr>
            <a:r>
              <a:rPr lang="en-US" sz="1200" b="1" spc="200" kern="0" dirty="0">
                <a:solidFill>
                  <a:schemeClr val="accent2"/>
                </a:solidFill>
              </a:rPr>
              <a:t>TEAM MEMBERS</a:t>
            </a:r>
            <a:endParaRPr lang="en-US" sz="1200" dirty="0"/>
          </a:p>
        </p:txBody>
      </p:sp>
      <p:sp>
        <p:nvSpPr>
          <p:cNvPr id="8" name="team chip 1"/>
          <p:cNvSpPr/>
          <p:nvPr/>
        </p:nvSpPr>
        <p:spPr>
          <a:xfrm>
            <a:off x="731520" y="5212080"/>
            <a:ext cx="2286000" cy="548640"/>
          </a:xfrm>
          <a:prstGeom prst="roundRect">
            <a:avLst>
              <a:gd name="adj" fmla="val 50000"/>
            </a:avLst>
          </a:prstGeom>
          <a:solidFill>
            <a:srgbClr val="234A80"/>
          </a:solidFill>
          <a:ln w="12700">
            <a:solidFill>
              <a:srgbClr val="3A64A0"/>
            </a:solidFill>
            <a:prstDash val="solid"/>
          </a:ln>
        </p:spPr>
      </p:sp>
      <p:sp>
        <p:nvSpPr>
          <p:cNvPr id="9" name="Text 7"/>
          <p:cNvSpPr txBox="1"/>
          <p:nvPr/>
        </p:nvSpPr>
        <p:spPr>
          <a:xfrm>
            <a:off x="731520" y="5212080"/>
            <a:ext cx="2286000" cy="548640"/>
          </a:xfrm>
          <a:prstGeom prst="rect">
            <a:avLst/>
          </a:prstGeom>
          <a:noFill/>
          <a:ln/>
        </p:spPr>
        <p:txBody>
          <a:bodyPr wrap="square" lIns="0" tIns="0" rIns="0" bIns="0" rtlCol="0" anchor="ctr"/>
          <a:lstStyle/>
          <a:p>
            <a:pPr algn="ctr" indent="0" marL="0">
              <a:buNone/>
            </a:pPr>
            <a:r>
              <a:rPr lang="en-US" sz="1600" b="1" dirty="0">
                <a:solidFill>
                  <a:schemeClr val="bg1"/>
                </a:solidFill>
              </a:rPr>
              <a:t>Mohammad Adnan</a:t>
            </a:r>
            <a:endParaRPr lang="en-US" sz="1600" dirty="0"/>
          </a:p>
        </p:txBody>
      </p:sp>
      <p:sp>
        <p:nvSpPr>
          <p:cNvPr id="10" name="team chip 2"/>
          <p:cNvSpPr/>
          <p:nvPr/>
        </p:nvSpPr>
        <p:spPr>
          <a:xfrm>
            <a:off x="3246120" y="5212080"/>
            <a:ext cx="2286000" cy="548640"/>
          </a:xfrm>
          <a:prstGeom prst="roundRect">
            <a:avLst>
              <a:gd name="adj" fmla="val 50000"/>
            </a:avLst>
          </a:prstGeom>
          <a:solidFill>
            <a:srgbClr val="234A80"/>
          </a:solidFill>
          <a:ln w="12700">
            <a:solidFill>
              <a:srgbClr val="3A64A0"/>
            </a:solidFill>
            <a:prstDash val="solid"/>
          </a:ln>
        </p:spPr>
      </p:sp>
      <p:sp>
        <p:nvSpPr>
          <p:cNvPr id="11" name="Text 9"/>
          <p:cNvSpPr txBox="1"/>
          <p:nvPr/>
        </p:nvSpPr>
        <p:spPr>
          <a:xfrm>
            <a:off x="3246120" y="5212080"/>
            <a:ext cx="2286000" cy="548640"/>
          </a:xfrm>
          <a:prstGeom prst="rect">
            <a:avLst/>
          </a:prstGeom>
          <a:noFill/>
          <a:ln/>
        </p:spPr>
        <p:txBody>
          <a:bodyPr wrap="square" lIns="0" tIns="0" rIns="0" bIns="0" rtlCol="0" anchor="ctr"/>
          <a:lstStyle/>
          <a:p>
            <a:pPr algn="ctr" indent="0" marL="0">
              <a:buNone/>
            </a:pPr>
            <a:r>
              <a:rPr lang="en-US" sz="1600" b="1" dirty="0">
                <a:solidFill>
                  <a:schemeClr val="bg1"/>
                </a:solidFill>
              </a:rPr>
              <a:t>Lucky Dhall</a:t>
            </a:r>
            <a:endParaRPr lang="en-US" sz="1600" dirty="0"/>
          </a:p>
        </p:txBody>
      </p:sp>
      <p:sp>
        <p:nvSpPr>
          <p:cNvPr id="12" name="team chip 3"/>
          <p:cNvSpPr/>
          <p:nvPr/>
        </p:nvSpPr>
        <p:spPr>
          <a:xfrm>
            <a:off x="5760720" y="5212080"/>
            <a:ext cx="2286000" cy="548640"/>
          </a:xfrm>
          <a:prstGeom prst="roundRect">
            <a:avLst>
              <a:gd name="adj" fmla="val 50000"/>
            </a:avLst>
          </a:prstGeom>
          <a:solidFill>
            <a:srgbClr val="234A80"/>
          </a:solidFill>
          <a:ln w="12700">
            <a:solidFill>
              <a:srgbClr val="3A64A0"/>
            </a:solidFill>
            <a:prstDash val="solid"/>
          </a:ln>
        </p:spPr>
      </p:sp>
      <p:sp>
        <p:nvSpPr>
          <p:cNvPr id="13" name="Text 11"/>
          <p:cNvSpPr txBox="1"/>
          <p:nvPr/>
        </p:nvSpPr>
        <p:spPr>
          <a:xfrm>
            <a:off x="5760720" y="5212080"/>
            <a:ext cx="2286000" cy="548640"/>
          </a:xfrm>
          <a:prstGeom prst="rect">
            <a:avLst/>
          </a:prstGeom>
          <a:noFill/>
          <a:ln/>
        </p:spPr>
        <p:txBody>
          <a:bodyPr wrap="square" lIns="0" tIns="0" rIns="0" bIns="0" rtlCol="0" anchor="ctr"/>
          <a:lstStyle/>
          <a:p>
            <a:pPr algn="ctr" indent="0" marL="0">
              <a:buNone/>
            </a:pPr>
            <a:r>
              <a:rPr lang="en-US" sz="1600" b="1" dirty="0">
                <a:solidFill>
                  <a:schemeClr val="bg1"/>
                </a:solidFill>
              </a:rPr>
              <a:t>Raja</a:t>
            </a:r>
            <a:endParaRPr lang="en-US" sz="1600" dirty="0"/>
          </a:p>
        </p:txBody>
      </p:sp>
      <p:sp>
        <p:nvSpPr>
          <p:cNvPr id="14" name="team chip 4"/>
          <p:cNvSpPr/>
          <p:nvPr/>
        </p:nvSpPr>
        <p:spPr>
          <a:xfrm>
            <a:off x="8275320" y="5212080"/>
            <a:ext cx="2286000" cy="548640"/>
          </a:xfrm>
          <a:prstGeom prst="roundRect">
            <a:avLst>
              <a:gd name="adj" fmla="val 50000"/>
            </a:avLst>
          </a:prstGeom>
          <a:solidFill>
            <a:srgbClr val="234A80"/>
          </a:solidFill>
          <a:ln w="12700">
            <a:solidFill>
              <a:srgbClr val="3A64A0"/>
            </a:solidFill>
            <a:prstDash val="solid"/>
          </a:ln>
        </p:spPr>
      </p:sp>
      <p:sp>
        <p:nvSpPr>
          <p:cNvPr id="15" name="Text 13"/>
          <p:cNvSpPr txBox="1"/>
          <p:nvPr/>
        </p:nvSpPr>
        <p:spPr>
          <a:xfrm>
            <a:off x="8275320" y="5212080"/>
            <a:ext cx="2286000" cy="548640"/>
          </a:xfrm>
          <a:prstGeom prst="rect">
            <a:avLst/>
          </a:prstGeom>
          <a:noFill/>
          <a:ln/>
        </p:spPr>
        <p:txBody>
          <a:bodyPr wrap="square" lIns="0" tIns="0" rIns="0" bIns="0" rtlCol="0" anchor="ctr"/>
          <a:lstStyle/>
          <a:p>
            <a:pPr algn="ctr" indent="0" marL="0">
              <a:buNone/>
            </a:pPr>
            <a:r>
              <a:rPr lang="en-US" sz="1600" b="1" dirty="0">
                <a:solidFill>
                  <a:schemeClr val="bg1"/>
                </a:solidFill>
              </a:rPr>
              <a:t>Sumit</a:t>
            </a:r>
            <a:endParaRPr lang="en-US" sz="1600" dirty="0"/>
          </a:p>
        </p:txBody>
      </p:sp>
      <p:sp>
        <p:nvSpPr>
          <p:cNvPr id="16" name="SE-EWRS shield circle"/>
          <p:cNvSpPr/>
          <p:nvPr/>
        </p:nvSpPr>
        <p:spPr>
          <a:xfrm>
            <a:off x="8915400" y="1188720"/>
            <a:ext cx="2468880" cy="2468880"/>
          </a:xfrm>
          <a:prstGeom prst="ellipse">
            <a:avLst/>
          </a:prstGeom>
          <a:solidFill>
            <a:schemeClr val="accent1"/>
          </a:solidFill>
          <a:ln w="12700">
            <a:solidFill>
              <a:schemeClr val="accent1"/>
            </a:solidFill>
            <a:prstDash val="solid"/>
          </a:ln>
        </p:spPr>
      </p:sp>
      <p:pic>
        <p:nvPicPr>
          <p:cNvPr id="17" name="SE-EWRS shield icon" descr="SE-EWRS shield">    </p:cNvPr>
          <p:cNvPicPr>
            <a:picLocks noChangeAspect="1"/>
          </p:cNvPicPr>
          <p:nvPr/>
        </p:nvPicPr>
        <p:blipFill>
          <a:blip r:embed="rId1"/>
          <a:stretch>
            <a:fillRect/>
          </a:stretch>
        </p:blipFill>
        <p:spPr>
          <a:xfrm>
            <a:off x="9532620" y="1805940"/>
            <a:ext cx="1234440" cy="1234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Objective</a:t>
            </a:r>
            <a:endParaRPr lang="en-US" sz="3600" dirty="0"/>
          </a:p>
        </p:txBody>
      </p:sp>
      <p:sp>
        <p:nvSpPr>
          <p:cNvPr id="3" name="Problem card"/>
          <p:cNvSpPr/>
          <p:nvPr/>
        </p:nvSpPr>
        <p:spPr>
          <a:xfrm>
            <a:off x="548640" y="1417320"/>
            <a:ext cx="4937760" cy="4206240"/>
          </a:xfrm>
          <a:prstGeom prst="roundRect">
            <a:avLst>
              <a:gd name="adj" fmla="val 2609"/>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4" name="Text 2"/>
          <p:cNvSpPr txBox="1"/>
          <p:nvPr/>
        </p:nvSpPr>
        <p:spPr>
          <a:xfrm>
            <a:off x="868680" y="1645920"/>
            <a:ext cx="438912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The problem</a:t>
            </a:r>
            <a:endParaRPr lang="en-US" sz="2200" dirty="0"/>
          </a:p>
        </p:txBody>
      </p:sp>
      <p:sp>
        <p:nvSpPr>
          <p:cNvPr id="5" name="Text 3"/>
          <p:cNvSpPr txBox="1"/>
          <p:nvPr/>
        </p:nvSpPr>
        <p:spPr>
          <a:xfrm>
            <a:off x="868680" y="2240280"/>
            <a:ext cx="43891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Colleges already record attendance, marks and portal logins</a:t>
            </a:r>
            <a:endParaRPr lang="en-US" sz="1800" dirty="0"/>
          </a:p>
          <a:p>
            <a:pPr marL="342900" indent="-342900">
              <a:spcAft>
                <a:spcPts val="1400"/>
              </a:spcAft>
              <a:buSzPct val="100000"/>
              <a:buChar char="•"/>
            </a:pPr>
            <a:r>
              <a:rPr lang="en-US" sz="1800" dirty="0">
                <a:solidFill>
                  <a:schemeClr val="tx1"/>
                </a:solidFill>
              </a:rPr>
              <a:t>This data is usually checked only after a student fails</a:t>
            </a:r>
            <a:endParaRPr lang="en-US" sz="1800" dirty="0"/>
          </a:p>
          <a:p>
            <a:pPr marL="342900" indent="-342900">
              <a:spcAft>
                <a:spcPts val="1400"/>
              </a:spcAft>
              <a:buSzPct val="100000"/>
              <a:buChar char="•"/>
            </a:pPr>
            <a:r>
              <a:rPr lang="en-US" sz="1800" dirty="0">
                <a:solidFill>
                  <a:schemeClr val="tx1"/>
                </a:solidFill>
              </a:rPr>
              <a:t>By then, it is often too late to help</a:t>
            </a:r>
            <a:endParaRPr lang="en-US" sz="1800" dirty="0"/>
          </a:p>
        </p:txBody>
      </p:sp>
      <p:sp>
        <p:nvSpPr>
          <p:cNvPr id="6" name="Text 4"/>
          <p:cNvSpPr txBox="1"/>
          <p:nvPr/>
        </p:nvSpPr>
        <p:spPr>
          <a:xfrm>
            <a:off x="6035040" y="1417320"/>
            <a:ext cx="548640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What SE-EWRS does</a:t>
            </a:r>
            <a:endParaRPr lang="en-US" sz="2200" dirty="0"/>
          </a:p>
        </p:txBody>
      </p:sp>
      <p:sp>
        <p:nvSpPr>
          <p:cNvPr id="7" name="Track circle"/>
          <p:cNvSpPr/>
          <p:nvPr/>
        </p:nvSpPr>
        <p:spPr>
          <a:xfrm>
            <a:off x="6035040" y="2011680"/>
            <a:ext cx="685800" cy="685800"/>
          </a:xfrm>
          <a:prstGeom prst="ellipse">
            <a:avLst/>
          </a:prstGeom>
          <a:solidFill>
            <a:schemeClr val="accent1"/>
          </a:solidFill>
          <a:ln w="12700">
            <a:solidFill>
              <a:schemeClr val="accent1"/>
            </a:solidFill>
            <a:prstDash val="solid"/>
          </a:ln>
        </p:spPr>
      </p:sp>
      <p:pic>
        <p:nvPicPr>
          <p:cNvPr id="8" name="Track icon" descr="Track">    </p:cNvPr>
          <p:cNvPicPr>
            <a:picLocks noChangeAspect="1"/>
          </p:cNvPicPr>
          <p:nvPr/>
        </p:nvPicPr>
        <p:blipFill>
          <a:blip r:embed="rId1"/>
          <a:stretch>
            <a:fillRect/>
          </a:stretch>
        </p:blipFill>
        <p:spPr>
          <a:xfrm>
            <a:off x="6206490" y="2183130"/>
            <a:ext cx="342900" cy="342900"/>
          </a:xfrm>
          <a:prstGeom prst="rect">
            <a:avLst/>
          </a:prstGeom>
        </p:spPr>
      </p:pic>
      <p:sp>
        <p:nvSpPr>
          <p:cNvPr id="9" name="Text 6"/>
          <p:cNvSpPr txBox="1"/>
          <p:nvPr/>
        </p:nvSpPr>
        <p:spPr>
          <a:xfrm>
            <a:off x="6903720" y="1993392"/>
            <a:ext cx="4572000" cy="347472"/>
          </a:xfrm>
          <a:prstGeom prst="rect">
            <a:avLst/>
          </a:prstGeom>
          <a:noFill/>
          <a:ln/>
        </p:spPr>
        <p:txBody>
          <a:bodyPr wrap="square" lIns="0" tIns="0" rIns="0" bIns="0" rtlCol="0" anchor="ctr"/>
          <a:lstStyle/>
          <a:p>
            <a:pPr indent="0" marL="0">
              <a:buNone/>
            </a:pPr>
            <a:r>
              <a:rPr lang="en-US" sz="1800" b="1" dirty="0">
                <a:solidFill>
                  <a:schemeClr val="tx2"/>
                </a:solidFill>
              </a:rPr>
              <a:t>Track</a:t>
            </a:r>
            <a:endParaRPr lang="en-US" sz="1800" dirty="0"/>
          </a:p>
        </p:txBody>
      </p:sp>
      <p:sp>
        <p:nvSpPr>
          <p:cNvPr id="10" name="Text 7"/>
          <p:cNvSpPr txBox="1"/>
          <p:nvPr/>
        </p:nvSpPr>
        <p:spPr>
          <a:xfrm>
            <a:off x="6903720" y="2340864"/>
            <a:ext cx="4754880" cy="347472"/>
          </a:xfrm>
          <a:prstGeom prst="rect">
            <a:avLst/>
          </a:prstGeom>
          <a:noFill/>
          <a:ln/>
        </p:spPr>
        <p:txBody>
          <a:bodyPr wrap="square" lIns="0" tIns="0" rIns="0" bIns="0" rtlCol="0" anchor="ctr"/>
          <a:lstStyle/>
          <a:p>
            <a:pPr indent="0" marL="0">
              <a:buNone/>
            </a:pPr>
            <a:r>
              <a:rPr lang="en-US" sz="1500" dirty="0">
                <a:solidFill>
                  <a:schemeClr val="tx1"/>
                </a:solidFill>
              </a:rPr>
              <a:t>Attendance, marks and online activity in one place</a:t>
            </a:r>
            <a:endParaRPr lang="en-US" sz="1500" dirty="0"/>
          </a:p>
        </p:txBody>
      </p:sp>
      <p:sp>
        <p:nvSpPr>
          <p:cNvPr id="11" name="Score circle"/>
          <p:cNvSpPr/>
          <p:nvPr/>
        </p:nvSpPr>
        <p:spPr>
          <a:xfrm>
            <a:off x="6035040" y="2926080"/>
            <a:ext cx="685800" cy="685800"/>
          </a:xfrm>
          <a:prstGeom prst="ellipse">
            <a:avLst/>
          </a:prstGeom>
          <a:solidFill>
            <a:schemeClr val="accent2"/>
          </a:solidFill>
          <a:ln w="12700">
            <a:solidFill>
              <a:schemeClr val="accent2"/>
            </a:solidFill>
            <a:prstDash val="solid"/>
          </a:ln>
        </p:spPr>
      </p:sp>
      <p:pic>
        <p:nvPicPr>
          <p:cNvPr id="12" name="Score icon" descr="Score">    </p:cNvPr>
          <p:cNvPicPr>
            <a:picLocks noChangeAspect="1"/>
          </p:cNvPicPr>
          <p:nvPr/>
        </p:nvPicPr>
        <p:blipFill>
          <a:blip r:embed="rId2"/>
          <a:stretch>
            <a:fillRect/>
          </a:stretch>
        </p:blipFill>
        <p:spPr>
          <a:xfrm>
            <a:off x="6206490" y="3097530"/>
            <a:ext cx="342900" cy="342900"/>
          </a:xfrm>
          <a:prstGeom prst="rect">
            <a:avLst/>
          </a:prstGeom>
        </p:spPr>
      </p:pic>
      <p:sp>
        <p:nvSpPr>
          <p:cNvPr id="13" name="Text 9"/>
          <p:cNvSpPr txBox="1"/>
          <p:nvPr/>
        </p:nvSpPr>
        <p:spPr>
          <a:xfrm>
            <a:off x="6903720" y="2907792"/>
            <a:ext cx="4572000" cy="347472"/>
          </a:xfrm>
          <a:prstGeom prst="rect">
            <a:avLst/>
          </a:prstGeom>
          <a:noFill/>
          <a:ln/>
        </p:spPr>
        <p:txBody>
          <a:bodyPr wrap="square" lIns="0" tIns="0" rIns="0" bIns="0" rtlCol="0" anchor="ctr"/>
          <a:lstStyle/>
          <a:p>
            <a:pPr indent="0" marL="0">
              <a:buNone/>
            </a:pPr>
            <a:r>
              <a:rPr lang="en-US" sz="1800" b="1" dirty="0">
                <a:solidFill>
                  <a:schemeClr val="tx2"/>
                </a:solidFill>
              </a:rPr>
              <a:t>Score</a:t>
            </a:r>
            <a:endParaRPr lang="en-US" sz="1800" dirty="0"/>
          </a:p>
        </p:txBody>
      </p:sp>
      <p:sp>
        <p:nvSpPr>
          <p:cNvPr id="14" name="Text 10"/>
          <p:cNvSpPr txBox="1"/>
          <p:nvPr/>
        </p:nvSpPr>
        <p:spPr>
          <a:xfrm>
            <a:off x="6903720" y="3255264"/>
            <a:ext cx="4754880" cy="347472"/>
          </a:xfrm>
          <a:prstGeom prst="rect">
            <a:avLst/>
          </a:prstGeom>
          <a:noFill/>
          <a:ln/>
        </p:spPr>
        <p:txBody>
          <a:bodyPr wrap="square" lIns="0" tIns="0" rIns="0" bIns="0" rtlCol="0" anchor="ctr"/>
          <a:lstStyle/>
          <a:p>
            <a:pPr indent="0" marL="0">
              <a:buNone/>
            </a:pPr>
            <a:r>
              <a:rPr lang="en-US" sz="1500" dirty="0">
                <a:solidFill>
                  <a:schemeClr val="tx1"/>
                </a:solidFill>
              </a:rPr>
              <a:t>A risk score (0–100) for each student in each course</a:t>
            </a:r>
            <a:endParaRPr lang="en-US" sz="1500" dirty="0"/>
          </a:p>
        </p:txBody>
      </p:sp>
      <p:sp>
        <p:nvSpPr>
          <p:cNvPr id="15" name="Warn circle"/>
          <p:cNvSpPr/>
          <p:nvPr/>
        </p:nvSpPr>
        <p:spPr>
          <a:xfrm>
            <a:off x="6035040" y="3840480"/>
            <a:ext cx="685800" cy="685800"/>
          </a:xfrm>
          <a:prstGeom prst="ellipse">
            <a:avLst/>
          </a:prstGeom>
          <a:solidFill>
            <a:schemeClr val="accent3"/>
          </a:solidFill>
          <a:ln w="12700">
            <a:solidFill>
              <a:schemeClr val="accent3"/>
            </a:solidFill>
            <a:prstDash val="solid"/>
          </a:ln>
        </p:spPr>
      </p:sp>
      <p:pic>
        <p:nvPicPr>
          <p:cNvPr id="16" name="Warn icon" descr="Warn">    </p:cNvPr>
          <p:cNvPicPr>
            <a:picLocks noChangeAspect="1"/>
          </p:cNvPicPr>
          <p:nvPr/>
        </p:nvPicPr>
        <p:blipFill>
          <a:blip r:embed="rId3"/>
          <a:stretch>
            <a:fillRect/>
          </a:stretch>
        </p:blipFill>
        <p:spPr>
          <a:xfrm>
            <a:off x="6206490" y="4011930"/>
            <a:ext cx="342900" cy="342900"/>
          </a:xfrm>
          <a:prstGeom prst="rect">
            <a:avLst/>
          </a:prstGeom>
        </p:spPr>
      </p:pic>
      <p:sp>
        <p:nvSpPr>
          <p:cNvPr id="17" name="Text 12"/>
          <p:cNvSpPr txBox="1"/>
          <p:nvPr/>
        </p:nvSpPr>
        <p:spPr>
          <a:xfrm>
            <a:off x="6903720" y="3822192"/>
            <a:ext cx="4572000" cy="347472"/>
          </a:xfrm>
          <a:prstGeom prst="rect">
            <a:avLst/>
          </a:prstGeom>
          <a:noFill/>
          <a:ln/>
        </p:spPr>
        <p:txBody>
          <a:bodyPr wrap="square" lIns="0" tIns="0" rIns="0" bIns="0" rtlCol="0" anchor="ctr"/>
          <a:lstStyle/>
          <a:p>
            <a:pPr indent="0" marL="0">
              <a:buNone/>
            </a:pPr>
            <a:r>
              <a:rPr lang="en-US" sz="1800" b="1" dirty="0">
                <a:solidFill>
                  <a:schemeClr val="tx2"/>
                </a:solidFill>
              </a:rPr>
              <a:t>Warn</a:t>
            </a:r>
            <a:endParaRPr lang="en-US" sz="1800" dirty="0"/>
          </a:p>
        </p:txBody>
      </p:sp>
      <p:sp>
        <p:nvSpPr>
          <p:cNvPr id="18" name="Text 13"/>
          <p:cNvSpPr txBox="1"/>
          <p:nvPr/>
        </p:nvSpPr>
        <p:spPr>
          <a:xfrm>
            <a:off x="6903720" y="4169664"/>
            <a:ext cx="4754880" cy="347472"/>
          </a:xfrm>
          <a:prstGeom prst="rect">
            <a:avLst/>
          </a:prstGeom>
          <a:noFill/>
          <a:ln/>
        </p:spPr>
        <p:txBody>
          <a:bodyPr wrap="square" lIns="0" tIns="0" rIns="0" bIns="0" rtlCol="0" anchor="ctr"/>
          <a:lstStyle/>
          <a:p>
            <a:pPr indent="0" marL="0">
              <a:buNone/>
            </a:pPr>
            <a:r>
              <a:rPr lang="en-US" sz="1500" dirty="0">
                <a:solidFill>
                  <a:schemeClr val="tx1"/>
                </a:solidFill>
              </a:rPr>
              <a:t>Raise an alert automatically when risk is high</a:t>
            </a:r>
            <a:endParaRPr lang="en-US" sz="1500" dirty="0"/>
          </a:p>
        </p:txBody>
      </p:sp>
      <p:sp>
        <p:nvSpPr>
          <p:cNvPr id="19" name="Act circle"/>
          <p:cNvSpPr/>
          <p:nvPr/>
        </p:nvSpPr>
        <p:spPr>
          <a:xfrm>
            <a:off x="6035040" y="4754880"/>
            <a:ext cx="685800" cy="685800"/>
          </a:xfrm>
          <a:prstGeom prst="ellipse">
            <a:avLst/>
          </a:prstGeom>
          <a:solidFill>
            <a:schemeClr val="accent4"/>
          </a:solidFill>
          <a:ln w="12700">
            <a:solidFill>
              <a:schemeClr val="accent4"/>
            </a:solidFill>
            <a:prstDash val="solid"/>
          </a:ln>
        </p:spPr>
      </p:sp>
      <p:pic>
        <p:nvPicPr>
          <p:cNvPr id="20" name="Act icon" descr="Act">    </p:cNvPr>
          <p:cNvPicPr>
            <a:picLocks noChangeAspect="1"/>
          </p:cNvPicPr>
          <p:nvPr/>
        </p:nvPicPr>
        <p:blipFill>
          <a:blip r:embed="rId4"/>
          <a:stretch>
            <a:fillRect/>
          </a:stretch>
        </p:blipFill>
        <p:spPr>
          <a:xfrm>
            <a:off x="6206490" y="4926330"/>
            <a:ext cx="342900" cy="342900"/>
          </a:xfrm>
          <a:prstGeom prst="rect">
            <a:avLst/>
          </a:prstGeom>
        </p:spPr>
      </p:pic>
      <p:sp>
        <p:nvSpPr>
          <p:cNvPr id="21" name="Text 15"/>
          <p:cNvSpPr txBox="1"/>
          <p:nvPr/>
        </p:nvSpPr>
        <p:spPr>
          <a:xfrm>
            <a:off x="6903720" y="4736592"/>
            <a:ext cx="4572000" cy="347472"/>
          </a:xfrm>
          <a:prstGeom prst="rect">
            <a:avLst/>
          </a:prstGeom>
          <a:noFill/>
          <a:ln/>
        </p:spPr>
        <p:txBody>
          <a:bodyPr wrap="square" lIns="0" tIns="0" rIns="0" bIns="0" rtlCol="0" anchor="ctr"/>
          <a:lstStyle/>
          <a:p>
            <a:pPr indent="0" marL="0">
              <a:buNone/>
            </a:pPr>
            <a:r>
              <a:rPr lang="en-US" sz="1800" b="1" dirty="0">
                <a:solidFill>
                  <a:schemeClr val="tx2"/>
                </a:solidFill>
              </a:rPr>
              <a:t>Act</a:t>
            </a:r>
            <a:endParaRPr lang="en-US" sz="1800" dirty="0"/>
          </a:p>
        </p:txBody>
      </p:sp>
      <p:sp>
        <p:nvSpPr>
          <p:cNvPr id="22" name="Text 16"/>
          <p:cNvSpPr txBox="1"/>
          <p:nvPr/>
        </p:nvSpPr>
        <p:spPr>
          <a:xfrm>
            <a:off x="6903720" y="5084064"/>
            <a:ext cx="4754880" cy="347472"/>
          </a:xfrm>
          <a:prstGeom prst="rect">
            <a:avLst/>
          </a:prstGeom>
          <a:noFill/>
          <a:ln/>
        </p:spPr>
        <p:txBody>
          <a:bodyPr wrap="square" lIns="0" tIns="0" rIns="0" bIns="0" rtlCol="0" anchor="ctr"/>
          <a:lstStyle/>
          <a:p>
            <a:pPr indent="0" marL="0">
              <a:buNone/>
            </a:pPr>
            <a:r>
              <a:rPr lang="en-US" sz="1500" dirty="0">
                <a:solidFill>
                  <a:schemeClr val="tx1"/>
                </a:solidFill>
              </a:rPr>
              <a:t>Record the help given, such as counselling</a:t>
            </a:r>
            <a:endParaRPr lang="en-US" sz="1500" dirty="0"/>
          </a:p>
        </p:txBody>
      </p:sp>
      <p:sp>
        <p:nvSpPr>
          <p:cNvPr id="23" name="Text 17"/>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800" b="1" i="1" dirty="0">
                <a:solidFill>
                  <a:schemeClr val="accent1"/>
                </a:solidFill>
              </a:rPr>
              <a:t>Goal: find struggling students early, before they fail.</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Project Design</a:t>
            </a:r>
            <a:endParaRPr lang="en-US" sz="3600" dirty="0"/>
          </a:p>
        </p:txBody>
      </p:sp>
      <p:sp>
        <p:nvSpPr>
          <p:cNvPr id="3" name="Frontend box"/>
          <p:cNvSpPr/>
          <p:nvPr/>
        </p:nvSpPr>
        <p:spPr>
          <a:xfrm>
            <a:off x="548640" y="1371600"/>
            <a:ext cx="3154680" cy="3063240"/>
          </a:xfrm>
          <a:prstGeom prst="roundRect">
            <a:avLst>
              <a:gd name="adj" fmla="val 358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4" name="Frontend circle"/>
          <p:cNvSpPr/>
          <p:nvPr/>
        </p:nvSpPr>
        <p:spPr>
          <a:xfrm>
            <a:off x="822960" y="1645920"/>
            <a:ext cx="731520" cy="731520"/>
          </a:xfrm>
          <a:prstGeom prst="ellipse">
            <a:avLst/>
          </a:prstGeom>
          <a:solidFill>
            <a:schemeClr val="accent1"/>
          </a:solidFill>
          <a:ln w="12700">
            <a:solidFill>
              <a:schemeClr val="accent1"/>
            </a:solidFill>
            <a:prstDash val="solid"/>
          </a:ln>
        </p:spPr>
      </p:sp>
      <p:pic>
        <p:nvPicPr>
          <p:cNvPr id="5" name="Frontend icon" descr="Frontend">    </p:cNvPr>
          <p:cNvPicPr>
            <a:picLocks noChangeAspect="1"/>
          </p:cNvPicPr>
          <p:nvPr/>
        </p:nvPicPr>
        <p:blipFill>
          <a:blip r:embed="rId1"/>
          <a:stretch>
            <a:fillRect/>
          </a:stretch>
        </p:blipFill>
        <p:spPr>
          <a:xfrm>
            <a:off x="1005840" y="1828800"/>
            <a:ext cx="365760" cy="365760"/>
          </a:xfrm>
          <a:prstGeom prst="rect">
            <a:avLst/>
          </a:prstGeom>
        </p:spPr>
      </p:pic>
      <p:sp>
        <p:nvSpPr>
          <p:cNvPr id="6" name="Text 3"/>
          <p:cNvSpPr txBox="1"/>
          <p:nvPr/>
        </p:nvSpPr>
        <p:spPr>
          <a:xfrm>
            <a:off x="1691640" y="1645920"/>
            <a:ext cx="1920240" cy="384048"/>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Frontend</a:t>
            </a:r>
            <a:endParaRPr lang="en-US" sz="2200" dirty="0"/>
          </a:p>
        </p:txBody>
      </p:sp>
      <p:sp>
        <p:nvSpPr>
          <p:cNvPr id="7" name="Text 4"/>
          <p:cNvSpPr txBox="1"/>
          <p:nvPr/>
        </p:nvSpPr>
        <p:spPr>
          <a:xfrm>
            <a:off x="1691640" y="2029968"/>
            <a:ext cx="1920240" cy="347472"/>
          </a:xfrm>
          <a:prstGeom prst="rect">
            <a:avLst/>
          </a:prstGeom>
          <a:noFill/>
          <a:ln/>
        </p:spPr>
        <p:txBody>
          <a:bodyPr wrap="square" lIns="0" tIns="0" rIns="0" bIns="0" rtlCol="0" anchor="ctr"/>
          <a:lstStyle/>
          <a:p>
            <a:pPr indent="0" marL="0">
              <a:buNone/>
            </a:pPr>
            <a:r>
              <a:rPr lang="en-US" sz="1500" b="1" dirty="0">
                <a:solidFill>
                  <a:schemeClr val="accent1"/>
                </a:solidFill>
              </a:rPr>
              <a:t>React + Vite</a:t>
            </a:r>
            <a:endParaRPr lang="en-US" sz="1500" dirty="0"/>
          </a:p>
        </p:txBody>
      </p:sp>
      <p:sp>
        <p:nvSpPr>
          <p:cNvPr id="8" name="Text 5"/>
          <p:cNvSpPr txBox="1"/>
          <p:nvPr/>
        </p:nvSpPr>
        <p:spPr>
          <a:xfrm>
            <a:off x="822960" y="2606040"/>
            <a:ext cx="26974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What staff see in the browser</a:t>
            </a:r>
            <a:endParaRPr lang="en-US" sz="1500" dirty="0"/>
          </a:p>
          <a:p>
            <a:pPr marL="342900" indent="-342900">
              <a:spcAft>
                <a:spcPts val="600"/>
              </a:spcAft>
              <a:buSzPct val="100000"/>
              <a:buChar char="•"/>
            </a:pPr>
            <a:r>
              <a:rPr lang="en-US" sz="1500" dirty="0">
                <a:solidFill>
                  <a:schemeClr val="tx1"/>
                </a:solidFill>
              </a:rPr>
              <a:t>Dashboard, students, risk, alerts, reports</a:t>
            </a:r>
            <a:endParaRPr lang="en-US" sz="1500" dirty="0"/>
          </a:p>
          <a:p>
            <a:pPr marL="342900" indent="-342900">
              <a:spcAft>
                <a:spcPts val="600"/>
              </a:spcAft>
              <a:buSzPct val="100000"/>
              <a:buChar char="•"/>
            </a:pPr>
            <a:r>
              <a:rPr lang="en-US" sz="1500" dirty="0">
                <a:solidFill>
                  <a:schemeClr val="tx1"/>
                </a:solidFill>
              </a:rPr>
              <a:t>Charts with Recharts</a:t>
            </a:r>
            <a:endParaRPr lang="en-US" sz="1500" dirty="0"/>
          </a:p>
        </p:txBody>
      </p:sp>
      <p:sp>
        <p:nvSpPr>
          <p:cNvPr id="9" name="arrow 1"/>
          <p:cNvSpPr/>
          <p:nvPr/>
        </p:nvSpPr>
        <p:spPr>
          <a:xfrm>
            <a:off x="3794760" y="2903220"/>
            <a:ext cx="640080" cy="0"/>
          </a:xfrm>
          <a:prstGeom prst="line">
            <a:avLst/>
          </a:prstGeom>
          <a:noFill/>
          <a:ln w="31750">
            <a:solidFill>
              <a:schemeClr val="accent5"/>
            </a:solidFill>
            <a:prstDash val="solid"/>
            <a:headEnd type="triangle"/>
            <a:tailEnd type="triangle"/>
          </a:ln>
        </p:spPr>
      </p:sp>
      <p:sp>
        <p:nvSpPr>
          <p:cNvPr id="10" name="Backend box"/>
          <p:cNvSpPr/>
          <p:nvPr/>
        </p:nvSpPr>
        <p:spPr>
          <a:xfrm>
            <a:off x="4526280" y="1371600"/>
            <a:ext cx="3154680" cy="3063240"/>
          </a:xfrm>
          <a:prstGeom prst="roundRect">
            <a:avLst>
              <a:gd name="adj" fmla="val 358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1" name="Backend circle"/>
          <p:cNvSpPr/>
          <p:nvPr/>
        </p:nvSpPr>
        <p:spPr>
          <a:xfrm>
            <a:off x="4800600" y="1645920"/>
            <a:ext cx="731520" cy="731520"/>
          </a:xfrm>
          <a:prstGeom prst="ellipse">
            <a:avLst/>
          </a:prstGeom>
          <a:solidFill>
            <a:schemeClr val="accent6"/>
          </a:solidFill>
          <a:ln w="12700">
            <a:solidFill>
              <a:schemeClr val="accent6"/>
            </a:solidFill>
            <a:prstDash val="solid"/>
          </a:ln>
        </p:spPr>
      </p:sp>
      <p:pic>
        <p:nvPicPr>
          <p:cNvPr id="12" name="Backend icon" descr="Backend">    </p:cNvPr>
          <p:cNvPicPr>
            <a:picLocks noChangeAspect="1"/>
          </p:cNvPicPr>
          <p:nvPr/>
        </p:nvPicPr>
        <p:blipFill>
          <a:blip r:embed="rId2"/>
          <a:stretch>
            <a:fillRect/>
          </a:stretch>
        </p:blipFill>
        <p:spPr>
          <a:xfrm>
            <a:off x="4983480" y="1828800"/>
            <a:ext cx="365760" cy="365760"/>
          </a:xfrm>
          <a:prstGeom prst="rect">
            <a:avLst/>
          </a:prstGeom>
        </p:spPr>
      </p:pic>
      <p:sp>
        <p:nvSpPr>
          <p:cNvPr id="13" name="Text 9"/>
          <p:cNvSpPr txBox="1"/>
          <p:nvPr/>
        </p:nvSpPr>
        <p:spPr>
          <a:xfrm>
            <a:off x="5669280" y="1645920"/>
            <a:ext cx="1920240" cy="384048"/>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Backend</a:t>
            </a:r>
            <a:endParaRPr lang="en-US" sz="2200" dirty="0"/>
          </a:p>
        </p:txBody>
      </p:sp>
      <p:sp>
        <p:nvSpPr>
          <p:cNvPr id="14" name="Text 10"/>
          <p:cNvSpPr txBox="1"/>
          <p:nvPr/>
        </p:nvSpPr>
        <p:spPr>
          <a:xfrm>
            <a:off x="5669280" y="2029968"/>
            <a:ext cx="1920240" cy="347472"/>
          </a:xfrm>
          <a:prstGeom prst="rect">
            <a:avLst/>
          </a:prstGeom>
          <a:noFill/>
          <a:ln/>
        </p:spPr>
        <p:txBody>
          <a:bodyPr wrap="square" lIns="0" tIns="0" rIns="0" bIns="0" rtlCol="0" anchor="ctr"/>
          <a:lstStyle/>
          <a:p>
            <a:pPr indent="0" marL="0">
              <a:buNone/>
            </a:pPr>
            <a:r>
              <a:rPr lang="en-US" sz="1500" b="1" dirty="0">
                <a:solidFill>
                  <a:schemeClr val="accent6"/>
                </a:solidFill>
              </a:rPr>
              <a:t>FastAPI (Python)</a:t>
            </a:r>
            <a:endParaRPr lang="en-US" sz="1500" dirty="0"/>
          </a:p>
        </p:txBody>
      </p:sp>
      <p:sp>
        <p:nvSpPr>
          <p:cNvPr id="15" name="Text 11"/>
          <p:cNvSpPr txBox="1"/>
          <p:nvPr/>
        </p:nvSpPr>
        <p:spPr>
          <a:xfrm>
            <a:off x="4800600" y="2606040"/>
            <a:ext cx="26974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Checks login and permissions</a:t>
            </a:r>
            <a:endParaRPr lang="en-US" sz="1500" dirty="0"/>
          </a:p>
          <a:p>
            <a:pPr marL="342900" indent="-342900">
              <a:spcAft>
                <a:spcPts val="600"/>
              </a:spcAft>
              <a:buSzPct val="100000"/>
              <a:buChar char="•"/>
            </a:pPr>
            <a:r>
              <a:rPr lang="en-US" sz="1500" dirty="0">
                <a:solidFill>
                  <a:schemeClr val="tx1"/>
                </a:solidFill>
              </a:rPr>
              <a:t>Runs the risk-scoring logic</a:t>
            </a:r>
            <a:endParaRPr lang="en-US" sz="1500" dirty="0"/>
          </a:p>
          <a:p>
            <a:pPr marL="342900" indent="-342900">
              <a:spcAft>
                <a:spcPts val="600"/>
              </a:spcAft>
              <a:buSzPct val="100000"/>
              <a:buChar char="•"/>
            </a:pPr>
            <a:r>
              <a:rPr lang="en-US" sz="1500" dirty="0">
                <a:solidFill>
                  <a:schemeClr val="tx1"/>
                </a:solidFill>
              </a:rPr>
              <a:t>62 API routes</a:t>
            </a:r>
            <a:endParaRPr lang="en-US" sz="1500" dirty="0"/>
          </a:p>
        </p:txBody>
      </p:sp>
      <p:sp>
        <p:nvSpPr>
          <p:cNvPr id="16" name="arrow 2"/>
          <p:cNvSpPr/>
          <p:nvPr/>
        </p:nvSpPr>
        <p:spPr>
          <a:xfrm>
            <a:off x="7772400" y="2903220"/>
            <a:ext cx="640080" cy="0"/>
          </a:xfrm>
          <a:prstGeom prst="line">
            <a:avLst/>
          </a:prstGeom>
          <a:noFill/>
          <a:ln w="31750">
            <a:solidFill>
              <a:schemeClr val="accent5"/>
            </a:solidFill>
            <a:prstDash val="solid"/>
            <a:headEnd type="triangle"/>
            <a:tailEnd type="triangle"/>
          </a:ln>
        </p:spPr>
      </p:sp>
      <p:sp>
        <p:nvSpPr>
          <p:cNvPr id="17" name="Database box"/>
          <p:cNvSpPr/>
          <p:nvPr/>
        </p:nvSpPr>
        <p:spPr>
          <a:xfrm>
            <a:off x="8503920" y="1371600"/>
            <a:ext cx="3154680" cy="3063240"/>
          </a:xfrm>
          <a:prstGeom prst="roundRect">
            <a:avLst>
              <a:gd name="adj" fmla="val 358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8" name="Database circle"/>
          <p:cNvSpPr/>
          <p:nvPr/>
        </p:nvSpPr>
        <p:spPr>
          <a:xfrm>
            <a:off x="8778240" y="1645920"/>
            <a:ext cx="731520" cy="731520"/>
          </a:xfrm>
          <a:prstGeom prst="ellipse">
            <a:avLst/>
          </a:prstGeom>
          <a:solidFill>
            <a:schemeClr val="accent2"/>
          </a:solidFill>
          <a:ln w="12700">
            <a:solidFill>
              <a:schemeClr val="accent2"/>
            </a:solidFill>
            <a:prstDash val="solid"/>
          </a:ln>
        </p:spPr>
      </p:sp>
      <p:pic>
        <p:nvPicPr>
          <p:cNvPr id="19" name="Database icon" descr="Database">    </p:cNvPr>
          <p:cNvPicPr>
            <a:picLocks noChangeAspect="1"/>
          </p:cNvPicPr>
          <p:nvPr/>
        </p:nvPicPr>
        <p:blipFill>
          <a:blip r:embed="rId3"/>
          <a:stretch>
            <a:fillRect/>
          </a:stretch>
        </p:blipFill>
        <p:spPr>
          <a:xfrm>
            <a:off x="8961120" y="1828800"/>
            <a:ext cx="365760" cy="365760"/>
          </a:xfrm>
          <a:prstGeom prst="rect">
            <a:avLst/>
          </a:prstGeom>
        </p:spPr>
      </p:pic>
      <p:sp>
        <p:nvSpPr>
          <p:cNvPr id="20" name="Text 15"/>
          <p:cNvSpPr txBox="1"/>
          <p:nvPr/>
        </p:nvSpPr>
        <p:spPr>
          <a:xfrm>
            <a:off x="9646920" y="1645920"/>
            <a:ext cx="1920240" cy="384048"/>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Database</a:t>
            </a:r>
            <a:endParaRPr lang="en-US" sz="2200" dirty="0"/>
          </a:p>
        </p:txBody>
      </p:sp>
      <p:sp>
        <p:nvSpPr>
          <p:cNvPr id="21" name="Text 16"/>
          <p:cNvSpPr txBox="1"/>
          <p:nvPr/>
        </p:nvSpPr>
        <p:spPr>
          <a:xfrm>
            <a:off x="9646920" y="2029968"/>
            <a:ext cx="1920240" cy="347472"/>
          </a:xfrm>
          <a:prstGeom prst="rect">
            <a:avLst/>
          </a:prstGeom>
          <a:noFill/>
          <a:ln/>
        </p:spPr>
        <p:txBody>
          <a:bodyPr wrap="square" lIns="0" tIns="0" rIns="0" bIns="0" rtlCol="0" anchor="ctr"/>
          <a:lstStyle/>
          <a:p>
            <a:pPr indent="0" marL="0">
              <a:buNone/>
            </a:pPr>
            <a:r>
              <a:rPr lang="en-US" sz="1500" b="1" dirty="0">
                <a:solidFill>
                  <a:schemeClr val="accent2"/>
                </a:solidFill>
              </a:rPr>
              <a:t>MySQL 8</a:t>
            </a:r>
            <a:endParaRPr lang="en-US" sz="1500" dirty="0"/>
          </a:p>
        </p:txBody>
      </p:sp>
      <p:sp>
        <p:nvSpPr>
          <p:cNvPr id="22" name="Text 17"/>
          <p:cNvSpPr txBox="1"/>
          <p:nvPr/>
        </p:nvSpPr>
        <p:spPr>
          <a:xfrm>
            <a:off x="8778240" y="2606040"/>
            <a:ext cx="26974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Stores all the data</a:t>
            </a:r>
            <a:endParaRPr lang="en-US" sz="1500" dirty="0"/>
          </a:p>
          <a:p>
            <a:pPr marL="342900" indent="-342900">
              <a:spcAft>
                <a:spcPts val="600"/>
              </a:spcAft>
              <a:buSzPct val="100000"/>
              <a:buChar char="•"/>
            </a:pPr>
            <a:r>
              <a:rPr lang="en-US" sz="1500" dirty="0">
                <a:solidFill>
                  <a:schemeClr val="tx1"/>
                </a:solidFill>
              </a:rPr>
              <a:t>16 tables, 12 views</a:t>
            </a:r>
            <a:endParaRPr lang="en-US" sz="1500" dirty="0"/>
          </a:p>
          <a:p>
            <a:pPr marL="342900" indent="-342900">
              <a:spcAft>
                <a:spcPts val="600"/>
              </a:spcAft>
              <a:buSzPct val="100000"/>
              <a:buChar char="•"/>
            </a:pPr>
            <a:r>
              <a:rPr lang="en-US" sz="1500" dirty="0">
                <a:solidFill>
                  <a:schemeClr val="tx1"/>
                </a:solidFill>
              </a:rPr>
              <a:t>Procedures and triggers</a:t>
            </a:r>
            <a:endParaRPr lang="en-US" sz="1500" dirty="0"/>
          </a:p>
        </p:txBody>
      </p:sp>
      <p:sp>
        <p:nvSpPr>
          <p:cNvPr id="23" name="Text 18"/>
          <p:cNvSpPr txBox="1"/>
          <p:nvPr/>
        </p:nvSpPr>
        <p:spPr>
          <a:xfrm>
            <a:off x="3657600" y="2400300"/>
            <a:ext cx="914400" cy="365760"/>
          </a:xfrm>
          <a:prstGeom prst="rect">
            <a:avLst/>
          </a:prstGeom>
          <a:noFill/>
          <a:ln/>
        </p:spPr>
        <p:txBody>
          <a:bodyPr wrap="square" lIns="0" tIns="0" rIns="0" bIns="0" rtlCol="0" anchor="ctr"/>
          <a:lstStyle/>
          <a:p>
            <a:pPr algn="ctr" indent="0" marL="0">
              <a:buNone/>
            </a:pPr>
            <a:r>
              <a:rPr lang="en-US" sz="1000" dirty="0">
                <a:solidFill>
                  <a:schemeClr val="accent5"/>
                </a:solidFill>
              </a:rPr>
              <a:t>JSON over HTTP</a:t>
            </a:r>
            <a:endParaRPr lang="en-US" sz="1000" dirty="0"/>
          </a:p>
        </p:txBody>
      </p:sp>
      <p:sp>
        <p:nvSpPr>
          <p:cNvPr id="24" name="Text 19"/>
          <p:cNvSpPr txBox="1"/>
          <p:nvPr/>
        </p:nvSpPr>
        <p:spPr>
          <a:xfrm>
            <a:off x="7635240" y="2400300"/>
            <a:ext cx="914400" cy="365760"/>
          </a:xfrm>
          <a:prstGeom prst="rect">
            <a:avLst/>
          </a:prstGeom>
          <a:noFill/>
          <a:ln/>
        </p:spPr>
        <p:txBody>
          <a:bodyPr wrap="square" lIns="0" tIns="0" rIns="0" bIns="0" rtlCol="0" anchor="ctr"/>
          <a:lstStyle/>
          <a:p>
            <a:pPr algn="ctr" indent="0" marL="0">
              <a:buNone/>
            </a:pPr>
            <a:r>
              <a:rPr lang="en-US" sz="1000" dirty="0">
                <a:solidFill>
                  <a:schemeClr val="accent5"/>
                </a:solidFill>
              </a:rPr>
              <a:t>SQL queries</a:t>
            </a:r>
            <a:endParaRPr lang="en-US" sz="1000" dirty="0"/>
          </a:p>
        </p:txBody>
      </p:sp>
      <p:sp>
        <p:nvSpPr>
          <p:cNvPr id="25" name="Text 20"/>
          <p:cNvSpPr txBox="1"/>
          <p:nvPr/>
        </p:nvSpPr>
        <p:spPr>
          <a:xfrm>
            <a:off x="548640" y="4709160"/>
            <a:ext cx="5486400" cy="365760"/>
          </a:xfrm>
          <a:prstGeom prst="rect">
            <a:avLst/>
          </a:prstGeom>
          <a:noFill/>
          <a:ln/>
        </p:spPr>
        <p:txBody>
          <a:bodyPr wrap="square" lIns="0" tIns="0" rIns="0" bIns="0" rtlCol="0" anchor="ctr"/>
          <a:lstStyle/>
          <a:p>
            <a:pPr indent="0" marL="0">
              <a:buNone/>
            </a:pPr>
            <a:r>
              <a:rPr lang="en-US" sz="1600" b="1" dirty="0">
                <a:solidFill>
                  <a:schemeClr val="tx2"/>
                </a:solidFill>
              </a:rPr>
              <a:t>One request, step by step</a:t>
            </a:r>
            <a:endParaRPr lang="en-US" sz="1600" dirty="0"/>
          </a:p>
        </p:txBody>
      </p:sp>
      <p:sp>
        <p:nvSpPr>
          <p:cNvPr id="26" name="step 1"/>
          <p:cNvSpPr/>
          <p:nvPr/>
        </p:nvSpPr>
        <p:spPr>
          <a:xfrm>
            <a:off x="548640" y="5212080"/>
            <a:ext cx="457200" cy="457200"/>
          </a:xfrm>
          <a:prstGeom prst="ellipse">
            <a:avLst/>
          </a:prstGeom>
          <a:solidFill>
            <a:schemeClr val="tx2"/>
          </a:solidFill>
          <a:ln w="12700">
            <a:solidFill>
              <a:schemeClr val="tx2"/>
            </a:solidFill>
            <a:prstDash val="solid"/>
          </a:ln>
        </p:spPr>
      </p:sp>
      <p:sp>
        <p:nvSpPr>
          <p:cNvPr id="27" name="Text 22"/>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8" name="Text 23"/>
          <p:cNvSpPr txBox="1"/>
          <p:nvPr/>
        </p:nvSpPr>
        <p:spPr>
          <a:xfrm>
            <a:off x="1097280" y="5120640"/>
            <a:ext cx="2148840" cy="640080"/>
          </a:xfrm>
          <a:prstGeom prst="rect">
            <a:avLst/>
          </a:prstGeom>
          <a:noFill/>
          <a:ln/>
        </p:spPr>
        <p:txBody>
          <a:bodyPr wrap="square" lIns="0" tIns="0" rIns="0" bIns="0" rtlCol="0" anchor="ctr"/>
          <a:lstStyle/>
          <a:p>
            <a:pPr indent="0" marL="0">
              <a:buNone/>
            </a:pPr>
            <a:r>
              <a:rPr lang="en-US" sz="1400" dirty="0">
                <a:solidFill>
                  <a:schemeClr val="tx1"/>
                </a:solidFill>
              </a:rPr>
              <a:t>Staff clicks a page in React</a:t>
            </a:r>
            <a:endParaRPr lang="en-US" sz="1400" dirty="0"/>
          </a:p>
        </p:txBody>
      </p:sp>
      <p:sp>
        <p:nvSpPr>
          <p:cNvPr id="29" name="step 2"/>
          <p:cNvSpPr/>
          <p:nvPr/>
        </p:nvSpPr>
        <p:spPr>
          <a:xfrm>
            <a:off x="3383280" y="5212080"/>
            <a:ext cx="457200" cy="457200"/>
          </a:xfrm>
          <a:prstGeom prst="ellipse">
            <a:avLst/>
          </a:prstGeom>
          <a:solidFill>
            <a:schemeClr val="tx2"/>
          </a:solidFill>
          <a:ln w="12700">
            <a:solidFill>
              <a:schemeClr val="tx2"/>
            </a:solidFill>
            <a:prstDash val="solid"/>
          </a:ln>
        </p:spPr>
      </p:sp>
      <p:sp>
        <p:nvSpPr>
          <p:cNvPr id="30" name="Text 25"/>
          <p:cNvSpPr txBox="1"/>
          <p:nvPr/>
        </p:nvSpPr>
        <p:spPr>
          <a:xfrm>
            <a:off x="3383280" y="5212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1" name="Text 26"/>
          <p:cNvSpPr txBox="1"/>
          <p:nvPr/>
        </p:nvSpPr>
        <p:spPr>
          <a:xfrm>
            <a:off x="3931920" y="5120640"/>
            <a:ext cx="2148840" cy="640080"/>
          </a:xfrm>
          <a:prstGeom prst="rect">
            <a:avLst/>
          </a:prstGeom>
          <a:noFill/>
          <a:ln/>
        </p:spPr>
        <p:txBody>
          <a:bodyPr wrap="square" lIns="0" tIns="0" rIns="0" bIns="0" rtlCol="0" anchor="ctr"/>
          <a:lstStyle/>
          <a:p>
            <a:pPr indent="0" marL="0">
              <a:buNone/>
            </a:pPr>
            <a:r>
              <a:rPr lang="en-US" sz="1400" dirty="0">
                <a:solidFill>
                  <a:schemeClr val="tx1"/>
                </a:solidFill>
              </a:rPr>
              <a:t>FastAPI checks login and permission</a:t>
            </a:r>
            <a:endParaRPr lang="en-US" sz="1400" dirty="0"/>
          </a:p>
        </p:txBody>
      </p:sp>
      <p:sp>
        <p:nvSpPr>
          <p:cNvPr id="32" name="step 3"/>
          <p:cNvSpPr/>
          <p:nvPr/>
        </p:nvSpPr>
        <p:spPr>
          <a:xfrm>
            <a:off x="6217920" y="5212080"/>
            <a:ext cx="457200" cy="457200"/>
          </a:xfrm>
          <a:prstGeom prst="ellipse">
            <a:avLst/>
          </a:prstGeom>
          <a:solidFill>
            <a:schemeClr val="tx2"/>
          </a:solidFill>
          <a:ln w="12700">
            <a:solidFill>
              <a:schemeClr val="tx2"/>
            </a:solidFill>
            <a:prstDash val="solid"/>
          </a:ln>
        </p:spPr>
      </p:sp>
      <p:sp>
        <p:nvSpPr>
          <p:cNvPr id="33" name="Text 28"/>
          <p:cNvSpPr txBox="1"/>
          <p:nvPr/>
        </p:nvSpPr>
        <p:spPr>
          <a:xfrm>
            <a:off x="6217920" y="5212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4" name="Text 29"/>
          <p:cNvSpPr txBox="1"/>
          <p:nvPr/>
        </p:nvSpPr>
        <p:spPr>
          <a:xfrm>
            <a:off x="6766560" y="5120640"/>
            <a:ext cx="2148840" cy="640080"/>
          </a:xfrm>
          <a:prstGeom prst="rect">
            <a:avLst/>
          </a:prstGeom>
          <a:noFill/>
          <a:ln/>
        </p:spPr>
        <p:txBody>
          <a:bodyPr wrap="square" lIns="0" tIns="0" rIns="0" bIns="0" rtlCol="0" anchor="ctr"/>
          <a:lstStyle/>
          <a:p>
            <a:pPr indent="0" marL="0">
              <a:buNone/>
            </a:pPr>
            <a:r>
              <a:rPr lang="en-US" sz="1400" dirty="0">
                <a:solidFill>
                  <a:schemeClr val="tx1"/>
                </a:solidFill>
              </a:rPr>
              <a:t>MySQL runs the query or procedure</a:t>
            </a:r>
            <a:endParaRPr lang="en-US" sz="1400" dirty="0"/>
          </a:p>
        </p:txBody>
      </p:sp>
      <p:sp>
        <p:nvSpPr>
          <p:cNvPr id="35" name="step 4"/>
          <p:cNvSpPr/>
          <p:nvPr/>
        </p:nvSpPr>
        <p:spPr>
          <a:xfrm>
            <a:off x="9052560" y="5212080"/>
            <a:ext cx="457200" cy="457200"/>
          </a:xfrm>
          <a:prstGeom prst="ellipse">
            <a:avLst/>
          </a:prstGeom>
          <a:solidFill>
            <a:schemeClr val="tx2"/>
          </a:solidFill>
          <a:ln w="12700">
            <a:solidFill>
              <a:schemeClr val="tx2"/>
            </a:solidFill>
            <a:prstDash val="solid"/>
          </a:ln>
        </p:spPr>
      </p:sp>
      <p:sp>
        <p:nvSpPr>
          <p:cNvPr id="36" name="Text 31"/>
          <p:cNvSpPr txBox="1"/>
          <p:nvPr/>
        </p:nvSpPr>
        <p:spPr>
          <a:xfrm>
            <a:off x="9052560" y="5212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7" name="Text 32"/>
          <p:cNvSpPr txBox="1"/>
          <p:nvPr/>
        </p:nvSpPr>
        <p:spPr>
          <a:xfrm>
            <a:off x="9601200" y="5120640"/>
            <a:ext cx="2148840" cy="640080"/>
          </a:xfrm>
          <a:prstGeom prst="rect">
            <a:avLst/>
          </a:prstGeom>
          <a:noFill/>
          <a:ln/>
        </p:spPr>
        <p:txBody>
          <a:bodyPr wrap="square" lIns="0" tIns="0" rIns="0" bIns="0" rtlCol="0" anchor="ctr"/>
          <a:lstStyle/>
          <a:p>
            <a:pPr indent="0" marL="0">
              <a:buNone/>
            </a:pPr>
            <a:r>
              <a:rPr lang="en-US" sz="1400" dirty="0">
                <a:solidFill>
                  <a:schemeClr val="tx1"/>
                </a:solidFill>
              </a:rPr>
              <a:t>Result shows as charts and tables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Technology Used</a:t>
            </a:r>
            <a:endParaRPr lang="en-US" sz="3600" dirty="0"/>
          </a:p>
        </p:txBody>
      </p:sp>
      <p:sp>
        <p:nvSpPr>
          <p:cNvPr id="3" name="React + Vite card"/>
          <p:cNvSpPr/>
          <p:nvPr/>
        </p:nvSpPr>
        <p:spPr>
          <a:xfrm>
            <a:off x="548640" y="1417320"/>
            <a:ext cx="2606040" cy="2103120"/>
          </a:xfrm>
          <a:prstGeom prst="roundRect">
            <a:avLst>
              <a:gd name="adj" fmla="val 5217"/>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4" name="React + Vite circle"/>
          <p:cNvSpPr/>
          <p:nvPr/>
        </p:nvSpPr>
        <p:spPr>
          <a:xfrm>
            <a:off x="777240" y="1645920"/>
            <a:ext cx="640080" cy="640080"/>
          </a:xfrm>
          <a:prstGeom prst="ellipse">
            <a:avLst/>
          </a:prstGeom>
          <a:solidFill>
            <a:schemeClr val="accent1"/>
          </a:solidFill>
          <a:ln w="12700">
            <a:solidFill>
              <a:schemeClr val="accent1"/>
            </a:solidFill>
            <a:prstDash val="solid"/>
          </a:ln>
        </p:spPr>
      </p:sp>
      <p:pic>
        <p:nvPicPr>
          <p:cNvPr id="5" name="React + Vite icon" descr="React + Vite">    </p:cNvPr>
          <p:cNvPicPr>
            <a:picLocks noChangeAspect="1"/>
          </p:cNvPicPr>
          <p:nvPr/>
        </p:nvPicPr>
        <p:blipFill>
          <a:blip r:embed="rId1"/>
          <a:stretch>
            <a:fillRect/>
          </a:stretch>
        </p:blipFill>
        <p:spPr>
          <a:xfrm>
            <a:off x="937260" y="1805940"/>
            <a:ext cx="320040" cy="320040"/>
          </a:xfrm>
          <a:prstGeom prst="rect">
            <a:avLst/>
          </a:prstGeom>
        </p:spPr>
      </p:pic>
      <p:sp>
        <p:nvSpPr>
          <p:cNvPr id="6" name="Text 3"/>
          <p:cNvSpPr txBox="1"/>
          <p:nvPr/>
        </p:nvSpPr>
        <p:spPr>
          <a:xfrm>
            <a:off x="777240" y="2404872"/>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React + Vite</a:t>
            </a:r>
            <a:endParaRPr lang="en-US" sz="1700" dirty="0"/>
          </a:p>
        </p:txBody>
      </p:sp>
      <p:sp>
        <p:nvSpPr>
          <p:cNvPr id="7" name="Text 4"/>
          <p:cNvSpPr txBox="1"/>
          <p:nvPr/>
        </p:nvSpPr>
        <p:spPr>
          <a:xfrm>
            <a:off x="777240" y="2788920"/>
            <a:ext cx="2194560" cy="594360"/>
          </a:xfrm>
          <a:prstGeom prst="rect">
            <a:avLst/>
          </a:prstGeom>
          <a:noFill/>
          <a:ln/>
        </p:spPr>
        <p:txBody>
          <a:bodyPr wrap="square" lIns="0" tIns="0" rIns="0" bIns="0" rtlCol="0" anchor="t"/>
          <a:lstStyle/>
          <a:p>
            <a:pPr indent="0" marL="0">
              <a:buNone/>
            </a:pPr>
            <a:r>
              <a:rPr lang="en-US" sz="1400" dirty="0">
                <a:solidFill>
                  <a:schemeClr val="tx1"/>
                </a:solidFill>
              </a:rPr>
              <a:t>Builds the web pages staff use</a:t>
            </a:r>
            <a:endParaRPr lang="en-US" sz="1400" dirty="0"/>
          </a:p>
        </p:txBody>
      </p:sp>
      <p:sp>
        <p:nvSpPr>
          <p:cNvPr id="8" name="Tailwind CSS card"/>
          <p:cNvSpPr/>
          <p:nvPr/>
        </p:nvSpPr>
        <p:spPr>
          <a:xfrm>
            <a:off x="3429000" y="1417320"/>
            <a:ext cx="2606040" cy="2103120"/>
          </a:xfrm>
          <a:prstGeom prst="roundRect">
            <a:avLst>
              <a:gd name="adj" fmla="val 5217"/>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9" name="Tailwind CSS circle"/>
          <p:cNvSpPr/>
          <p:nvPr/>
        </p:nvSpPr>
        <p:spPr>
          <a:xfrm>
            <a:off x="3657600" y="1645920"/>
            <a:ext cx="640080" cy="640080"/>
          </a:xfrm>
          <a:prstGeom prst="ellipse">
            <a:avLst/>
          </a:prstGeom>
          <a:solidFill>
            <a:schemeClr val="accent1"/>
          </a:solidFill>
          <a:ln w="12700">
            <a:solidFill>
              <a:schemeClr val="accent1"/>
            </a:solidFill>
            <a:prstDash val="solid"/>
          </a:ln>
        </p:spPr>
      </p:sp>
      <p:pic>
        <p:nvPicPr>
          <p:cNvPr id="10" name="Tailwind CSS icon" descr="Tailwind CSS">    </p:cNvPr>
          <p:cNvPicPr>
            <a:picLocks noChangeAspect="1"/>
          </p:cNvPicPr>
          <p:nvPr/>
        </p:nvPicPr>
        <p:blipFill>
          <a:blip r:embed="rId2"/>
          <a:stretch>
            <a:fillRect/>
          </a:stretch>
        </p:blipFill>
        <p:spPr>
          <a:xfrm>
            <a:off x="3817620" y="1805940"/>
            <a:ext cx="320040" cy="320040"/>
          </a:xfrm>
          <a:prstGeom prst="rect">
            <a:avLst/>
          </a:prstGeom>
        </p:spPr>
      </p:pic>
      <p:sp>
        <p:nvSpPr>
          <p:cNvPr id="11" name="Text 7"/>
          <p:cNvSpPr txBox="1"/>
          <p:nvPr/>
        </p:nvSpPr>
        <p:spPr>
          <a:xfrm>
            <a:off x="3657600" y="2404872"/>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Tailwind CSS</a:t>
            </a:r>
            <a:endParaRPr lang="en-US" sz="1700" dirty="0"/>
          </a:p>
        </p:txBody>
      </p:sp>
      <p:sp>
        <p:nvSpPr>
          <p:cNvPr id="12" name="Text 8"/>
          <p:cNvSpPr txBox="1"/>
          <p:nvPr/>
        </p:nvSpPr>
        <p:spPr>
          <a:xfrm>
            <a:off x="3657600" y="2788920"/>
            <a:ext cx="2194560" cy="594360"/>
          </a:xfrm>
          <a:prstGeom prst="rect">
            <a:avLst/>
          </a:prstGeom>
          <a:noFill/>
          <a:ln/>
        </p:spPr>
        <p:txBody>
          <a:bodyPr wrap="square" lIns="0" tIns="0" rIns="0" bIns="0" rtlCol="0" anchor="t"/>
          <a:lstStyle/>
          <a:p>
            <a:pPr indent="0" marL="0">
              <a:buNone/>
            </a:pPr>
            <a:r>
              <a:rPr lang="en-US" sz="1400" dirty="0">
                <a:solidFill>
                  <a:schemeClr val="tx1"/>
                </a:solidFill>
              </a:rPr>
              <a:t>Clean and simple page styling</a:t>
            </a:r>
            <a:endParaRPr lang="en-US" sz="1400" dirty="0"/>
          </a:p>
        </p:txBody>
      </p:sp>
      <p:sp>
        <p:nvSpPr>
          <p:cNvPr id="13" name="Recharts card"/>
          <p:cNvSpPr/>
          <p:nvPr/>
        </p:nvSpPr>
        <p:spPr>
          <a:xfrm>
            <a:off x="6309360" y="1417320"/>
            <a:ext cx="2606040" cy="2103120"/>
          </a:xfrm>
          <a:prstGeom prst="roundRect">
            <a:avLst>
              <a:gd name="adj" fmla="val 5217"/>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4" name="Recharts circle"/>
          <p:cNvSpPr/>
          <p:nvPr/>
        </p:nvSpPr>
        <p:spPr>
          <a:xfrm>
            <a:off x="6537960" y="1645920"/>
            <a:ext cx="640080" cy="640080"/>
          </a:xfrm>
          <a:prstGeom prst="ellipse">
            <a:avLst/>
          </a:prstGeom>
          <a:solidFill>
            <a:schemeClr val="accent1"/>
          </a:solidFill>
          <a:ln w="12700">
            <a:solidFill>
              <a:schemeClr val="accent1"/>
            </a:solidFill>
            <a:prstDash val="solid"/>
          </a:ln>
        </p:spPr>
      </p:sp>
      <p:pic>
        <p:nvPicPr>
          <p:cNvPr id="15" name="Recharts icon" descr="Recharts">    </p:cNvPr>
          <p:cNvPicPr>
            <a:picLocks noChangeAspect="1"/>
          </p:cNvPicPr>
          <p:nvPr/>
        </p:nvPicPr>
        <p:blipFill>
          <a:blip r:embed="rId3"/>
          <a:stretch>
            <a:fillRect/>
          </a:stretch>
        </p:blipFill>
        <p:spPr>
          <a:xfrm>
            <a:off x="6697980" y="1805940"/>
            <a:ext cx="320040" cy="320040"/>
          </a:xfrm>
          <a:prstGeom prst="rect">
            <a:avLst/>
          </a:prstGeom>
        </p:spPr>
      </p:pic>
      <p:sp>
        <p:nvSpPr>
          <p:cNvPr id="16" name="Text 11"/>
          <p:cNvSpPr txBox="1"/>
          <p:nvPr/>
        </p:nvSpPr>
        <p:spPr>
          <a:xfrm>
            <a:off x="6537960" y="2404872"/>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Recharts</a:t>
            </a:r>
            <a:endParaRPr lang="en-US" sz="1700" dirty="0"/>
          </a:p>
        </p:txBody>
      </p:sp>
      <p:sp>
        <p:nvSpPr>
          <p:cNvPr id="17" name="Text 12"/>
          <p:cNvSpPr txBox="1"/>
          <p:nvPr/>
        </p:nvSpPr>
        <p:spPr>
          <a:xfrm>
            <a:off x="6537960" y="2788920"/>
            <a:ext cx="2194560" cy="594360"/>
          </a:xfrm>
          <a:prstGeom prst="rect">
            <a:avLst/>
          </a:prstGeom>
          <a:noFill/>
          <a:ln/>
        </p:spPr>
        <p:txBody>
          <a:bodyPr wrap="square" lIns="0" tIns="0" rIns="0" bIns="0" rtlCol="0" anchor="t"/>
          <a:lstStyle/>
          <a:p>
            <a:pPr indent="0" marL="0">
              <a:buNone/>
            </a:pPr>
            <a:r>
              <a:rPr lang="en-US" sz="1400" dirty="0">
                <a:solidFill>
                  <a:schemeClr val="tx1"/>
                </a:solidFill>
              </a:rPr>
              <a:t>Charts on the dashboard and reports</a:t>
            </a:r>
            <a:endParaRPr lang="en-US" sz="1400" dirty="0"/>
          </a:p>
        </p:txBody>
      </p:sp>
      <p:sp>
        <p:nvSpPr>
          <p:cNvPr id="18" name="FastAPI (Python) card"/>
          <p:cNvSpPr/>
          <p:nvPr/>
        </p:nvSpPr>
        <p:spPr>
          <a:xfrm>
            <a:off x="9189720" y="1417320"/>
            <a:ext cx="2606040" cy="2103120"/>
          </a:xfrm>
          <a:prstGeom prst="roundRect">
            <a:avLst>
              <a:gd name="adj" fmla="val 5217"/>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9" name="FastAPI (Python) circle"/>
          <p:cNvSpPr/>
          <p:nvPr/>
        </p:nvSpPr>
        <p:spPr>
          <a:xfrm>
            <a:off x="9418320" y="1645920"/>
            <a:ext cx="640080" cy="640080"/>
          </a:xfrm>
          <a:prstGeom prst="ellipse">
            <a:avLst/>
          </a:prstGeom>
          <a:solidFill>
            <a:schemeClr val="accent6"/>
          </a:solidFill>
          <a:ln w="12700">
            <a:solidFill>
              <a:schemeClr val="accent6"/>
            </a:solidFill>
            <a:prstDash val="solid"/>
          </a:ln>
        </p:spPr>
      </p:sp>
      <p:pic>
        <p:nvPicPr>
          <p:cNvPr id="20" name="FastAPI (Python) icon" descr="FastAPI (Python)">    </p:cNvPr>
          <p:cNvPicPr>
            <a:picLocks noChangeAspect="1"/>
          </p:cNvPicPr>
          <p:nvPr/>
        </p:nvPicPr>
        <p:blipFill>
          <a:blip r:embed="rId4"/>
          <a:stretch>
            <a:fillRect/>
          </a:stretch>
        </p:blipFill>
        <p:spPr>
          <a:xfrm>
            <a:off x="9578340" y="1805940"/>
            <a:ext cx="320040" cy="320040"/>
          </a:xfrm>
          <a:prstGeom prst="rect">
            <a:avLst/>
          </a:prstGeom>
        </p:spPr>
      </p:pic>
      <p:sp>
        <p:nvSpPr>
          <p:cNvPr id="21" name="Text 15"/>
          <p:cNvSpPr txBox="1"/>
          <p:nvPr/>
        </p:nvSpPr>
        <p:spPr>
          <a:xfrm>
            <a:off x="9418320" y="2404872"/>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FastAPI (Python)</a:t>
            </a:r>
            <a:endParaRPr lang="en-US" sz="1700" dirty="0"/>
          </a:p>
        </p:txBody>
      </p:sp>
      <p:sp>
        <p:nvSpPr>
          <p:cNvPr id="22" name="Text 16"/>
          <p:cNvSpPr txBox="1"/>
          <p:nvPr/>
        </p:nvSpPr>
        <p:spPr>
          <a:xfrm>
            <a:off x="9418320" y="2788920"/>
            <a:ext cx="2194560" cy="594360"/>
          </a:xfrm>
          <a:prstGeom prst="rect">
            <a:avLst/>
          </a:prstGeom>
          <a:noFill/>
          <a:ln/>
        </p:spPr>
        <p:txBody>
          <a:bodyPr wrap="square" lIns="0" tIns="0" rIns="0" bIns="0" rtlCol="0" anchor="t"/>
          <a:lstStyle/>
          <a:p>
            <a:pPr indent="0" marL="0">
              <a:buNone/>
            </a:pPr>
            <a:r>
              <a:rPr lang="en-US" sz="1400" dirty="0">
                <a:solidFill>
                  <a:schemeClr val="tx1"/>
                </a:solidFill>
              </a:rPr>
              <a:t>Backend server and API routes</a:t>
            </a:r>
            <a:endParaRPr lang="en-US" sz="1400" dirty="0"/>
          </a:p>
        </p:txBody>
      </p:sp>
      <p:sp>
        <p:nvSpPr>
          <p:cNvPr id="23" name="SQLAlchemy card"/>
          <p:cNvSpPr/>
          <p:nvPr/>
        </p:nvSpPr>
        <p:spPr>
          <a:xfrm>
            <a:off x="548640" y="3794760"/>
            <a:ext cx="2606040" cy="2103120"/>
          </a:xfrm>
          <a:prstGeom prst="roundRect">
            <a:avLst>
              <a:gd name="adj" fmla="val 5217"/>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24" name="SQLAlchemy circle"/>
          <p:cNvSpPr/>
          <p:nvPr/>
        </p:nvSpPr>
        <p:spPr>
          <a:xfrm>
            <a:off x="777240" y="4023360"/>
            <a:ext cx="640080" cy="640080"/>
          </a:xfrm>
          <a:prstGeom prst="ellipse">
            <a:avLst/>
          </a:prstGeom>
          <a:solidFill>
            <a:schemeClr val="accent6"/>
          </a:solidFill>
          <a:ln w="12700">
            <a:solidFill>
              <a:schemeClr val="accent6"/>
            </a:solidFill>
            <a:prstDash val="solid"/>
          </a:ln>
        </p:spPr>
      </p:sp>
      <p:pic>
        <p:nvPicPr>
          <p:cNvPr id="25" name="SQLAlchemy icon" descr="SQLAlchemy">    </p:cNvPr>
          <p:cNvPicPr>
            <a:picLocks noChangeAspect="1"/>
          </p:cNvPicPr>
          <p:nvPr/>
        </p:nvPicPr>
        <p:blipFill>
          <a:blip r:embed="rId5"/>
          <a:stretch>
            <a:fillRect/>
          </a:stretch>
        </p:blipFill>
        <p:spPr>
          <a:xfrm>
            <a:off x="937260" y="4183380"/>
            <a:ext cx="320040" cy="320040"/>
          </a:xfrm>
          <a:prstGeom prst="rect">
            <a:avLst/>
          </a:prstGeom>
        </p:spPr>
      </p:pic>
      <p:sp>
        <p:nvSpPr>
          <p:cNvPr id="26" name="Text 19"/>
          <p:cNvSpPr txBox="1"/>
          <p:nvPr/>
        </p:nvSpPr>
        <p:spPr>
          <a:xfrm>
            <a:off x="777240" y="4782312"/>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SQLAlchemy</a:t>
            </a:r>
            <a:endParaRPr lang="en-US" sz="1700" dirty="0"/>
          </a:p>
        </p:txBody>
      </p:sp>
      <p:sp>
        <p:nvSpPr>
          <p:cNvPr id="27" name="Text 20"/>
          <p:cNvSpPr txBox="1"/>
          <p:nvPr/>
        </p:nvSpPr>
        <p:spPr>
          <a:xfrm>
            <a:off x="777240" y="5166360"/>
            <a:ext cx="2194560" cy="594360"/>
          </a:xfrm>
          <a:prstGeom prst="rect">
            <a:avLst/>
          </a:prstGeom>
          <a:noFill/>
          <a:ln/>
        </p:spPr>
        <p:txBody>
          <a:bodyPr wrap="square" lIns="0" tIns="0" rIns="0" bIns="0" rtlCol="0" anchor="t"/>
          <a:lstStyle/>
          <a:p>
            <a:pPr indent="0" marL="0">
              <a:buNone/>
            </a:pPr>
            <a:r>
              <a:rPr lang="en-US" sz="1400" dirty="0">
                <a:solidFill>
                  <a:schemeClr val="tx1"/>
                </a:solidFill>
              </a:rPr>
              <a:t>Connects Python to MySQL (with PyMySQL)</a:t>
            </a:r>
            <a:endParaRPr lang="en-US" sz="1400" dirty="0"/>
          </a:p>
        </p:txBody>
      </p:sp>
      <p:sp>
        <p:nvSpPr>
          <p:cNvPr id="28" name="MySQL 8 card"/>
          <p:cNvSpPr/>
          <p:nvPr/>
        </p:nvSpPr>
        <p:spPr>
          <a:xfrm>
            <a:off x="3429000" y="3794760"/>
            <a:ext cx="2606040" cy="2103120"/>
          </a:xfrm>
          <a:prstGeom prst="roundRect">
            <a:avLst>
              <a:gd name="adj" fmla="val 5217"/>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29" name="MySQL 8 circle"/>
          <p:cNvSpPr/>
          <p:nvPr/>
        </p:nvSpPr>
        <p:spPr>
          <a:xfrm>
            <a:off x="3657600" y="4023360"/>
            <a:ext cx="640080" cy="640080"/>
          </a:xfrm>
          <a:prstGeom prst="ellipse">
            <a:avLst/>
          </a:prstGeom>
          <a:solidFill>
            <a:schemeClr val="accent2"/>
          </a:solidFill>
          <a:ln w="12700">
            <a:solidFill>
              <a:schemeClr val="accent2"/>
            </a:solidFill>
            <a:prstDash val="solid"/>
          </a:ln>
        </p:spPr>
      </p:sp>
      <p:pic>
        <p:nvPicPr>
          <p:cNvPr id="30" name="MySQL 8 icon" descr="MySQL 8">    </p:cNvPr>
          <p:cNvPicPr>
            <a:picLocks noChangeAspect="1"/>
          </p:cNvPicPr>
          <p:nvPr/>
        </p:nvPicPr>
        <p:blipFill>
          <a:blip r:embed="rId6"/>
          <a:stretch>
            <a:fillRect/>
          </a:stretch>
        </p:blipFill>
        <p:spPr>
          <a:xfrm>
            <a:off x="3817620" y="4183380"/>
            <a:ext cx="320040" cy="320040"/>
          </a:xfrm>
          <a:prstGeom prst="rect">
            <a:avLst/>
          </a:prstGeom>
        </p:spPr>
      </p:pic>
      <p:sp>
        <p:nvSpPr>
          <p:cNvPr id="31" name="Text 23"/>
          <p:cNvSpPr txBox="1"/>
          <p:nvPr/>
        </p:nvSpPr>
        <p:spPr>
          <a:xfrm>
            <a:off x="3657600" y="4782312"/>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MySQL 8</a:t>
            </a:r>
            <a:endParaRPr lang="en-US" sz="1700" dirty="0"/>
          </a:p>
        </p:txBody>
      </p:sp>
      <p:sp>
        <p:nvSpPr>
          <p:cNvPr id="32" name="Text 24"/>
          <p:cNvSpPr txBox="1"/>
          <p:nvPr/>
        </p:nvSpPr>
        <p:spPr>
          <a:xfrm>
            <a:off x="3657600" y="5166360"/>
            <a:ext cx="2194560" cy="594360"/>
          </a:xfrm>
          <a:prstGeom prst="rect">
            <a:avLst/>
          </a:prstGeom>
          <a:noFill/>
          <a:ln/>
        </p:spPr>
        <p:txBody>
          <a:bodyPr wrap="square" lIns="0" tIns="0" rIns="0" bIns="0" rtlCol="0" anchor="t"/>
          <a:lstStyle/>
          <a:p>
            <a:pPr indent="0" marL="0">
              <a:buNone/>
            </a:pPr>
            <a:r>
              <a:rPr lang="en-US" sz="1400" dirty="0">
                <a:solidFill>
                  <a:schemeClr val="tx1"/>
                </a:solidFill>
              </a:rPr>
              <a:t>Stores data; views, procedures, triggers</a:t>
            </a:r>
            <a:endParaRPr lang="en-US" sz="1400" dirty="0"/>
          </a:p>
        </p:txBody>
      </p:sp>
      <p:sp>
        <p:nvSpPr>
          <p:cNvPr id="33" name="JWT + Argon2 card"/>
          <p:cNvSpPr/>
          <p:nvPr/>
        </p:nvSpPr>
        <p:spPr>
          <a:xfrm>
            <a:off x="6309360" y="3794760"/>
            <a:ext cx="2606040" cy="2103120"/>
          </a:xfrm>
          <a:prstGeom prst="roundRect">
            <a:avLst>
              <a:gd name="adj" fmla="val 5217"/>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34" name="JWT + Argon2 circle"/>
          <p:cNvSpPr/>
          <p:nvPr/>
        </p:nvSpPr>
        <p:spPr>
          <a:xfrm>
            <a:off x="6537960" y="4023360"/>
            <a:ext cx="640080" cy="640080"/>
          </a:xfrm>
          <a:prstGeom prst="ellipse">
            <a:avLst/>
          </a:prstGeom>
          <a:solidFill>
            <a:schemeClr val="accent3"/>
          </a:solidFill>
          <a:ln w="12700">
            <a:solidFill>
              <a:schemeClr val="accent3"/>
            </a:solidFill>
            <a:prstDash val="solid"/>
          </a:ln>
        </p:spPr>
      </p:sp>
      <p:pic>
        <p:nvPicPr>
          <p:cNvPr id="35" name="JWT + Argon2 icon" descr="JWT + Argon2">    </p:cNvPr>
          <p:cNvPicPr>
            <a:picLocks noChangeAspect="1"/>
          </p:cNvPicPr>
          <p:nvPr/>
        </p:nvPicPr>
        <p:blipFill>
          <a:blip r:embed="rId7"/>
          <a:stretch>
            <a:fillRect/>
          </a:stretch>
        </p:blipFill>
        <p:spPr>
          <a:xfrm>
            <a:off x="6697980" y="4183380"/>
            <a:ext cx="320040" cy="320040"/>
          </a:xfrm>
          <a:prstGeom prst="rect">
            <a:avLst/>
          </a:prstGeom>
        </p:spPr>
      </p:pic>
      <p:sp>
        <p:nvSpPr>
          <p:cNvPr id="36" name="Text 27"/>
          <p:cNvSpPr txBox="1"/>
          <p:nvPr/>
        </p:nvSpPr>
        <p:spPr>
          <a:xfrm>
            <a:off x="6537960" y="4782312"/>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JWT + Argon2</a:t>
            </a:r>
            <a:endParaRPr lang="en-US" sz="1700" dirty="0"/>
          </a:p>
        </p:txBody>
      </p:sp>
      <p:sp>
        <p:nvSpPr>
          <p:cNvPr id="37" name="Text 28"/>
          <p:cNvSpPr txBox="1"/>
          <p:nvPr/>
        </p:nvSpPr>
        <p:spPr>
          <a:xfrm>
            <a:off x="6537960" y="5166360"/>
            <a:ext cx="2194560" cy="594360"/>
          </a:xfrm>
          <a:prstGeom prst="rect">
            <a:avLst/>
          </a:prstGeom>
          <a:noFill/>
          <a:ln/>
        </p:spPr>
        <p:txBody>
          <a:bodyPr wrap="square" lIns="0" tIns="0" rIns="0" bIns="0" rtlCol="0" anchor="t"/>
          <a:lstStyle/>
          <a:p>
            <a:pPr indent="0" marL="0">
              <a:buNone/>
            </a:pPr>
            <a:r>
              <a:rPr lang="en-US" sz="1400" dirty="0">
                <a:solidFill>
                  <a:schemeClr val="tx1"/>
                </a:solidFill>
              </a:rPr>
              <a:t>Secure login and hashed passwords</a:t>
            </a:r>
            <a:endParaRPr lang="en-US" sz="1400" dirty="0"/>
          </a:p>
        </p:txBody>
      </p:sp>
      <p:sp>
        <p:nvSpPr>
          <p:cNvPr id="38" name="pytest + Vitest card"/>
          <p:cNvSpPr/>
          <p:nvPr/>
        </p:nvSpPr>
        <p:spPr>
          <a:xfrm>
            <a:off x="9189720" y="3794760"/>
            <a:ext cx="2606040" cy="2103120"/>
          </a:xfrm>
          <a:prstGeom prst="roundRect">
            <a:avLst>
              <a:gd name="adj" fmla="val 5217"/>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39" name="pytest + Vitest circle"/>
          <p:cNvSpPr/>
          <p:nvPr/>
        </p:nvSpPr>
        <p:spPr>
          <a:xfrm>
            <a:off x="9418320" y="4023360"/>
            <a:ext cx="640080" cy="640080"/>
          </a:xfrm>
          <a:prstGeom prst="ellipse">
            <a:avLst/>
          </a:prstGeom>
          <a:solidFill>
            <a:schemeClr val="accent4"/>
          </a:solidFill>
          <a:ln w="12700">
            <a:solidFill>
              <a:schemeClr val="accent4"/>
            </a:solidFill>
            <a:prstDash val="solid"/>
          </a:ln>
        </p:spPr>
      </p:sp>
      <p:pic>
        <p:nvPicPr>
          <p:cNvPr id="40" name="pytest + Vitest icon" descr="pytest + Vitest">    </p:cNvPr>
          <p:cNvPicPr>
            <a:picLocks noChangeAspect="1"/>
          </p:cNvPicPr>
          <p:nvPr/>
        </p:nvPicPr>
        <p:blipFill>
          <a:blip r:embed="rId8"/>
          <a:stretch>
            <a:fillRect/>
          </a:stretch>
        </p:blipFill>
        <p:spPr>
          <a:xfrm>
            <a:off x="9578340" y="4183380"/>
            <a:ext cx="320040" cy="320040"/>
          </a:xfrm>
          <a:prstGeom prst="rect">
            <a:avLst/>
          </a:prstGeom>
        </p:spPr>
      </p:pic>
      <p:sp>
        <p:nvSpPr>
          <p:cNvPr id="41" name="Text 31"/>
          <p:cNvSpPr txBox="1"/>
          <p:nvPr/>
        </p:nvSpPr>
        <p:spPr>
          <a:xfrm>
            <a:off x="9418320" y="4782312"/>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pytest + Vitest</a:t>
            </a:r>
            <a:endParaRPr lang="en-US" sz="1700" dirty="0"/>
          </a:p>
        </p:txBody>
      </p:sp>
      <p:sp>
        <p:nvSpPr>
          <p:cNvPr id="42" name="Text 32"/>
          <p:cNvSpPr txBox="1"/>
          <p:nvPr/>
        </p:nvSpPr>
        <p:spPr>
          <a:xfrm>
            <a:off x="9418320" y="5166360"/>
            <a:ext cx="2194560" cy="594360"/>
          </a:xfrm>
          <a:prstGeom prst="rect">
            <a:avLst/>
          </a:prstGeom>
          <a:noFill/>
          <a:ln/>
        </p:spPr>
        <p:txBody>
          <a:bodyPr wrap="square" lIns="0" tIns="0" rIns="0" bIns="0" rtlCol="0" anchor="t"/>
          <a:lstStyle/>
          <a:p>
            <a:pPr indent="0" marL="0">
              <a:buNone/>
            </a:pPr>
            <a:r>
              <a:rPr lang="en-US" sz="1400" dirty="0">
                <a:solidFill>
                  <a:schemeClr val="tx1"/>
                </a:solidFill>
              </a:rPr>
              <a:t>Automatic testing: 526 + 98 tests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Main Features</a:t>
            </a:r>
            <a:endParaRPr lang="en-US" sz="3600" dirty="0"/>
          </a:p>
        </p:txBody>
      </p:sp>
      <p:sp>
        <p:nvSpPr>
          <p:cNvPr id="3" name="Student management card"/>
          <p:cNvSpPr/>
          <p:nvPr/>
        </p:nvSpPr>
        <p:spPr>
          <a:xfrm>
            <a:off x="548640" y="1371600"/>
            <a:ext cx="3520440" cy="1417320"/>
          </a:xfrm>
          <a:prstGeom prst="roundRect">
            <a:avLst>
              <a:gd name="adj" fmla="val 774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4" name="Student management circle"/>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5" name="Student management icon" descr="Student management">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1508760" y="1572768"/>
            <a:ext cx="2423160" cy="365760"/>
          </a:xfrm>
          <a:prstGeom prst="rect">
            <a:avLst/>
          </a:prstGeom>
          <a:noFill/>
          <a:ln/>
        </p:spPr>
        <p:txBody>
          <a:bodyPr wrap="square" lIns="0" tIns="0" rIns="0" bIns="0" rtlCol="0" anchor="ctr"/>
          <a:lstStyle/>
          <a:p>
            <a:pPr indent="0" marL="0">
              <a:buNone/>
            </a:pPr>
            <a:r>
              <a:rPr lang="en-US" sz="1700" b="1" dirty="0">
                <a:solidFill>
                  <a:schemeClr val="tx2"/>
                </a:solidFill>
              </a:rPr>
              <a:t>Student management</a:t>
            </a:r>
            <a:endParaRPr lang="en-US" sz="1700" dirty="0"/>
          </a:p>
        </p:txBody>
      </p:sp>
      <p:sp>
        <p:nvSpPr>
          <p:cNvPr id="7" name="Text 4"/>
          <p:cNvSpPr txBox="1"/>
          <p:nvPr/>
        </p:nvSpPr>
        <p:spPr>
          <a:xfrm>
            <a:off x="1508760" y="1965960"/>
            <a:ext cx="2423160" cy="731520"/>
          </a:xfrm>
          <a:prstGeom prst="rect">
            <a:avLst/>
          </a:prstGeom>
          <a:noFill/>
          <a:ln/>
        </p:spPr>
        <p:txBody>
          <a:bodyPr wrap="square" lIns="0" tIns="0" rIns="0" bIns="0" rtlCol="0" anchor="t"/>
          <a:lstStyle/>
          <a:p>
            <a:pPr indent="0" marL="0">
              <a:buNone/>
            </a:pPr>
            <a:r>
              <a:rPr lang="en-US" sz="1400" dirty="0">
                <a:solidFill>
                  <a:schemeClr val="tx1"/>
                </a:solidFill>
              </a:rPr>
              <a:t>Add, search, filter and view full student profiles</a:t>
            </a:r>
            <a:endParaRPr lang="en-US" sz="1400" dirty="0"/>
          </a:p>
        </p:txBody>
      </p:sp>
      <p:sp>
        <p:nvSpPr>
          <p:cNvPr id="8" name="Attendance card"/>
          <p:cNvSpPr/>
          <p:nvPr/>
        </p:nvSpPr>
        <p:spPr>
          <a:xfrm>
            <a:off x="4343400" y="1371600"/>
            <a:ext cx="3520440" cy="1417320"/>
          </a:xfrm>
          <a:prstGeom prst="roundRect">
            <a:avLst>
              <a:gd name="adj" fmla="val 774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9" name="Attendance circle"/>
          <p:cNvSpPr/>
          <p:nvPr/>
        </p:nvSpPr>
        <p:spPr>
          <a:xfrm>
            <a:off x="4572000" y="1600200"/>
            <a:ext cx="594360" cy="594360"/>
          </a:xfrm>
          <a:prstGeom prst="ellipse">
            <a:avLst/>
          </a:prstGeom>
          <a:solidFill>
            <a:schemeClr val="accent6"/>
          </a:solidFill>
          <a:ln w="12700">
            <a:solidFill>
              <a:schemeClr val="accent6"/>
            </a:solidFill>
            <a:prstDash val="solid"/>
          </a:ln>
        </p:spPr>
      </p:sp>
      <p:pic>
        <p:nvPicPr>
          <p:cNvPr id="10" name="Attendance icon" descr="Attendance">    </p:cNvPr>
          <p:cNvPicPr>
            <a:picLocks noChangeAspect="1"/>
          </p:cNvPicPr>
          <p:nvPr/>
        </p:nvPicPr>
        <p:blipFill>
          <a:blip r:embed="rId2"/>
          <a:stretch>
            <a:fillRect/>
          </a:stretch>
        </p:blipFill>
        <p:spPr>
          <a:xfrm>
            <a:off x="4720590" y="1748790"/>
            <a:ext cx="297180" cy="297180"/>
          </a:xfrm>
          <a:prstGeom prst="rect">
            <a:avLst/>
          </a:prstGeom>
        </p:spPr>
      </p:pic>
      <p:sp>
        <p:nvSpPr>
          <p:cNvPr id="11" name="Text 7"/>
          <p:cNvSpPr txBox="1"/>
          <p:nvPr/>
        </p:nvSpPr>
        <p:spPr>
          <a:xfrm>
            <a:off x="5303520" y="1572768"/>
            <a:ext cx="2423160" cy="365760"/>
          </a:xfrm>
          <a:prstGeom prst="rect">
            <a:avLst/>
          </a:prstGeom>
          <a:noFill/>
          <a:ln/>
        </p:spPr>
        <p:txBody>
          <a:bodyPr wrap="square" lIns="0" tIns="0" rIns="0" bIns="0" rtlCol="0" anchor="ctr"/>
          <a:lstStyle/>
          <a:p>
            <a:pPr indent="0" marL="0">
              <a:buNone/>
            </a:pPr>
            <a:r>
              <a:rPr lang="en-US" sz="1700" b="1" dirty="0">
                <a:solidFill>
                  <a:schemeClr val="tx2"/>
                </a:solidFill>
              </a:rPr>
              <a:t>Attendance</a:t>
            </a:r>
            <a:endParaRPr lang="en-US" sz="1700" dirty="0"/>
          </a:p>
        </p:txBody>
      </p:sp>
      <p:sp>
        <p:nvSpPr>
          <p:cNvPr id="12" name="Text 8"/>
          <p:cNvSpPr txBox="1"/>
          <p:nvPr/>
        </p:nvSpPr>
        <p:spPr>
          <a:xfrm>
            <a:off x="5303520" y="1965960"/>
            <a:ext cx="2423160" cy="731520"/>
          </a:xfrm>
          <a:prstGeom prst="rect">
            <a:avLst/>
          </a:prstGeom>
          <a:noFill/>
          <a:ln/>
        </p:spPr>
        <p:txBody>
          <a:bodyPr wrap="square" lIns="0" tIns="0" rIns="0" bIns="0" rtlCol="0" anchor="t"/>
          <a:lstStyle/>
          <a:p>
            <a:pPr indent="0" marL="0">
              <a:buNone/>
            </a:pPr>
            <a:r>
              <a:rPr lang="en-US" sz="1400" dirty="0">
                <a:solidFill>
                  <a:schemeClr val="tx1"/>
                </a:solidFill>
              </a:rPr>
              <a:t>Mark a whole class at once: present, late, absent, excused</a:t>
            </a:r>
            <a:endParaRPr lang="en-US" sz="1400" dirty="0"/>
          </a:p>
        </p:txBody>
      </p:sp>
      <p:sp>
        <p:nvSpPr>
          <p:cNvPr id="13" name="Assessments card"/>
          <p:cNvSpPr/>
          <p:nvPr/>
        </p:nvSpPr>
        <p:spPr>
          <a:xfrm>
            <a:off x="8138160" y="1371600"/>
            <a:ext cx="3520440" cy="1417320"/>
          </a:xfrm>
          <a:prstGeom prst="roundRect">
            <a:avLst>
              <a:gd name="adj" fmla="val 774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4" name="Assessments circle"/>
          <p:cNvSpPr/>
          <p:nvPr/>
        </p:nvSpPr>
        <p:spPr>
          <a:xfrm>
            <a:off x="8366760" y="1600200"/>
            <a:ext cx="594360" cy="594360"/>
          </a:xfrm>
          <a:prstGeom prst="ellipse">
            <a:avLst/>
          </a:prstGeom>
          <a:solidFill>
            <a:schemeClr val="accent1"/>
          </a:solidFill>
          <a:ln w="12700">
            <a:solidFill>
              <a:schemeClr val="accent1"/>
            </a:solidFill>
            <a:prstDash val="solid"/>
          </a:ln>
        </p:spPr>
      </p:sp>
      <p:pic>
        <p:nvPicPr>
          <p:cNvPr id="15" name="Assessments icon" descr="Assessments">    </p:cNvPr>
          <p:cNvPicPr>
            <a:picLocks noChangeAspect="1"/>
          </p:cNvPicPr>
          <p:nvPr/>
        </p:nvPicPr>
        <p:blipFill>
          <a:blip r:embed="rId3"/>
          <a:stretch>
            <a:fillRect/>
          </a:stretch>
        </p:blipFill>
        <p:spPr>
          <a:xfrm>
            <a:off x="8515350" y="1748790"/>
            <a:ext cx="297180" cy="297180"/>
          </a:xfrm>
          <a:prstGeom prst="rect">
            <a:avLst/>
          </a:prstGeom>
        </p:spPr>
      </p:pic>
      <p:sp>
        <p:nvSpPr>
          <p:cNvPr id="16" name="Text 11"/>
          <p:cNvSpPr txBox="1"/>
          <p:nvPr/>
        </p:nvSpPr>
        <p:spPr>
          <a:xfrm>
            <a:off x="9098280" y="1572768"/>
            <a:ext cx="2423160" cy="365760"/>
          </a:xfrm>
          <a:prstGeom prst="rect">
            <a:avLst/>
          </a:prstGeom>
          <a:noFill/>
          <a:ln/>
        </p:spPr>
        <p:txBody>
          <a:bodyPr wrap="square" lIns="0" tIns="0" rIns="0" bIns="0" rtlCol="0" anchor="ctr"/>
          <a:lstStyle/>
          <a:p>
            <a:pPr indent="0" marL="0">
              <a:buNone/>
            </a:pPr>
            <a:r>
              <a:rPr lang="en-US" sz="1700" b="1" dirty="0">
                <a:solidFill>
                  <a:schemeClr val="tx2"/>
                </a:solidFill>
              </a:rPr>
              <a:t>Assessments</a:t>
            </a:r>
            <a:endParaRPr lang="en-US" sz="1700" dirty="0"/>
          </a:p>
        </p:txBody>
      </p:sp>
      <p:sp>
        <p:nvSpPr>
          <p:cNvPr id="17" name="Text 12"/>
          <p:cNvSpPr txBox="1"/>
          <p:nvPr/>
        </p:nvSpPr>
        <p:spPr>
          <a:xfrm>
            <a:off x="9098280" y="1965960"/>
            <a:ext cx="2423160" cy="731520"/>
          </a:xfrm>
          <a:prstGeom prst="rect">
            <a:avLst/>
          </a:prstGeom>
          <a:noFill/>
          <a:ln/>
        </p:spPr>
        <p:txBody>
          <a:bodyPr wrap="square" lIns="0" tIns="0" rIns="0" bIns="0" rtlCol="0" anchor="t"/>
          <a:lstStyle/>
          <a:p>
            <a:pPr indent="0" marL="0">
              <a:buNone/>
            </a:pPr>
            <a:r>
              <a:rPr lang="en-US" sz="1400" dirty="0">
                <a:solidFill>
                  <a:schemeClr val="tx1"/>
                </a:solidFill>
              </a:rPr>
              <a:t>Assignments, quizzes and exams; wrong marks are rejected</a:t>
            </a:r>
            <a:endParaRPr lang="en-US" sz="1400" dirty="0"/>
          </a:p>
        </p:txBody>
      </p:sp>
      <p:sp>
        <p:nvSpPr>
          <p:cNvPr id="18" name="Risk scoring card"/>
          <p:cNvSpPr/>
          <p:nvPr/>
        </p:nvSpPr>
        <p:spPr>
          <a:xfrm>
            <a:off x="548640" y="3017520"/>
            <a:ext cx="3520440" cy="1417320"/>
          </a:xfrm>
          <a:prstGeom prst="roundRect">
            <a:avLst>
              <a:gd name="adj" fmla="val 774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9" name="Risk scoring circle"/>
          <p:cNvSpPr/>
          <p:nvPr/>
        </p:nvSpPr>
        <p:spPr>
          <a:xfrm>
            <a:off x="777240" y="3246120"/>
            <a:ext cx="594360" cy="594360"/>
          </a:xfrm>
          <a:prstGeom prst="ellipse">
            <a:avLst/>
          </a:prstGeom>
          <a:solidFill>
            <a:schemeClr val="accent2"/>
          </a:solidFill>
          <a:ln w="12700">
            <a:solidFill>
              <a:schemeClr val="accent2"/>
            </a:solidFill>
            <a:prstDash val="solid"/>
          </a:ln>
        </p:spPr>
      </p:sp>
      <p:pic>
        <p:nvPicPr>
          <p:cNvPr id="20" name="Risk scoring icon" descr="Risk scoring">    </p:cNvPr>
          <p:cNvPicPr>
            <a:picLocks noChangeAspect="1"/>
          </p:cNvPicPr>
          <p:nvPr/>
        </p:nvPicPr>
        <p:blipFill>
          <a:blip r:embed="rId4"/>
          <a:stretch>
            <a:fillRect/>
          </a:stretch>
        </p:blipFill>
        <p:spPr>
          <a:xfrm>
            <a:off x="925830" y="3394710"/>
            <a:ext cx="297180" cy="297180"/>
          </a:xfrm>
          <a:prstGeom prst="rect">
            <a:avLst/>
          </a:prstGeom>
        </p:spPr>
      </p:pic>
      <p:sp>
        <p:nvSpPr>
          <p:cNvPr id="21" name="Text 15"/>
          <p:cNvSpPr txBox="1"/>
          <p:nvPr/>
        </p:nvSpPr>
        <p:spPr>
          <a:xfrm>
            <a:off x="1508760" y="3218688"/>
            <a:ext cx="2423160" cy="365760"/>
          </a:xfrm>
          <a:prstGeom prst="rect">
            <a:avLst/>
          </a:prstGeom>
          <a:noFill/>
          <a:ln/>
        </p:spPr>
        <p:txBody>
          <a:bodyPr wrap="square" lIns="0" tIns="0" rIns="0" bIns="0" rtlCol="0" anchor="ctr"/>
          <a:lstStyle/>
          <a:p>
            <a:pPr indent="0" marL="0">
              <a:buNone/>
            </a:pPr>
            <a:r>
              <a:rPr lang="en-US" sz="1700" b="1" dirty="0">
                <a:solidFill>
                  <a:schemeClr val="tx2"/>
                </a:solidFill>
              </a:rPr>
              <a:t>Risk scoring</a:t>
            </a:r>
            <a:endParaRPr lang="en-US" sz="1700" dirty="0"/>
          </a:p>
        </p:txBody>
      </p:sp>
      <p:sp>
        <p:nvSpPr>
          <p:cNvPr id="22" name="Text 16"/>
          <p:cNvSpPr txBox="1"/>
          <p:nvPr/>
        </p:nvSpPr>
        <p:spPr>
          <a:xfrm>
            <a:off x="1508760" y="3611880"/>
            <a:ext cx="2423160" cy="731520"/>
          </a:xfrm>
          <a:prstGeom prst="rect">
            <a:avLst/>
          </a:prstGeom>
          <a:noFill/>
          <a:ln/>
        </p:spPr>
        <p:txBody>
          <a:bodyPr wrap="square" lIns="0" tIns="0" rIns="0" bIns="0" rtlCol="0" anchor="t"/>
          <a:lstStyle/>
          <a:p>
            <a:pPr indent="0" marL="0">
              <a:buNone/>
            </a:pPr>
            <a:r>
              <a:rPr lang="en-US" sz="1400" dirty="0">
                <a:solidFill>
                  <a:schemeClr val="tx1"/>
                </a:solidFill>
              </a:rPr>
              <a:t>A 0–100 score per student per course, with reasons</a:t>
            </a:r>
            <a:endParaRPr lang="en-US" sz="1400" dirty="0"/>
          </a:p>
        </p:txBody>
      </p:sp>
      <p:sp>
        <p:nvSpPr>
          <p:cNvPr id="23" name="Alerts card"/>
          <p:cNvSpPr/>
          <p:nvPr/>
        </p:nvSpPr>
        <p:spPr>
          <a:xfrm>
            <a:off x="4343400" y="3017520"/>
            <a:ext cx="3520440" cy="1417320"/>
          </a:xfrm>
          <a:prstGeom prst="roundRect">
            <a:avLst>
              <a:gd name="adj" fmla="val 774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24" name="Alerts circle"/>
          <p:cNvSpPr/>
          <p:nvPr/>
        </p:nvSpPr>
        <p:spPr>
          <a:xfrm>
            <a:off x="4572000" y="3246120"/>
            <a:ext cx="594360" cy="594360"/>
          </a:xfrm>
          <a:prstGeom prst="ellipse">
            <a:avLst/>
          </a:prstGeom>
          <a:solidFill>
            <a:schemeClr val="accent3"/>
          </a:solidFill>
          <a:ln w="12700">
            <a:solidFill>
              <a:schemeClr val="accent3"/>
            </a:solidFill>
            <a:prstDash val="solid"/>
          </a:ln>
        </p:spPr>
      </p:sp>
      <p:pic>
        <p:nvPicPr>
          <p:cNvPr id="25" name="Alerts icon" descr="Alerts">    </p:cNvPr>
          <p:cNvPicPr>
            <a:picLocks noChangeAspect="1"/>
          </p:cNvPicPr>
          <p:nvPr/>
        </p:nvPicPr>
        <p:blipFill>
          <a:blip r:embed="rId5"/>
          <a:stretch>
            <a:fillRect/>
          </a:stretch>
        </p:blipFill>
        <p:spPr>
          <a:xfrm>
            <a:off x="4720590" y="3394710"/>
            <a:ext cx="297180" cy="297180"/>
          </a:xfrm>
          <a:prstGeom prst="rect">
            <a:avLst/>
          </a:prstGeom>
        </p:spPr>
      </p:pic>
      <p:sp>
        <p:nvSpPr>
          <p:cNvPr id="26" name="Text 19"/>
          <p:cNvSpPr txBox="1"/>
          <p:nvPr/>
        </p:nvSpPr>
        <p:spPr>
          <a:xfrm>
            <a:off x="5303520" y="3218688"/>
            <a:ext cx="2423160" cy="365760"/>
          </a:xfrm>
          <a:prstGeom prst="rect">
            <a:avLst/>
          </a:prstGeom>
          <a:noFill/>
          <a:ln/>
        </p:spPr>
        <p:txBody>
          <a:bodyPr wrap="square" lIns="0" tIns="0" rIns="0" bIns="0" rtlCol="0" anchor="ctr"/>
          <a:lstStyle/>
          <a:p>
            <a:pPr indent="0" marL="0">
              <a:buNone/>
            </a:pPr>
            <a:r>
              <a:rPr lang="en-US" sz="1700" b="1" dirty="0">
                <a:solidFill>
                  <a:schemeClr val="tx2"/>
                </a:solidFill>
              </a:rPr>
              <a:t>Alerts</a:t>
            </a:r>
            <a:endParaRPr lang="en-US" sz="1700" dirty="0"/>
          </a:p>
        </p:txBody>
      </p:sp>
      <p:sp>
        <p:nvSpPr>
          <p:cNvPr id="27" name="Text 20"/>
          <p:cNvSpPr txBox="1"/>
          <p:nvPr/>
        </p:nvSpPr>
        <p:spPr>
          <a:xfrm>
            <a:off x="5303520" y="3611880"/>
            <a:ext cx="2423160" cy="731520"/>
          </a:xfrm>
          <a:prstGeom prst="rect">
            <a:avLst/>
          </a:prstGeom>
          <a:noFill/>
          <a:ln/>
        </p:spPr>
        <p:txBody>
          <a:bodyPr wrap="square" lIns="0" tIns="0" rIns="0" bIns="0" rtlCol="0" anchor="t"/>
          <a:lstStyle/>
          <a:p>
            <a:pPr indent="0" marL="0">
              <a:buNone/>
            </a:pPr>
            <a:r>
              <a:rPr lang="en-US" sz="1400" dirty="0">
                <a:solidFill>
                  <a:schemeClr val="tx1"/>
                </a:solidFill>
              </a:rPr>
              <a:t>Raised automatically; one open alert per student-course</a:t>
            </a:r>
            <a:endParaRPr lang="en-US" sz="1400" dirty="0"/>
          </a:p>
        </p:txBody>
      </p:sp>
      <p:sp>
        <p:nvSpPr>
          <p:cNvPr id="28" name="Reports card"/>
          <p:cNvSpPr/>
          <p:nvPr/>
        </p:nvSpPr>
        <p:spPr>
          <a:xfrm>
            <a:off x="8138160" y="3017520"/>
            <a:ext cx="3520440" cy="1417320"/>
          </a:xfrm>
          <a:prstGeom prst="roundRect">
            <a:avLst>
              <a:gd name="adj" fmla="val 7742"/>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29" name="Reports circle"/>
          <p:cNvSpPr/>
          <p:nvPr/>
        </p:nvSpPr>
        <p:spPr>
          <a:xfrm>
            <a:off x="8366760" y="3246120"/>
            <a:ext cx="594360" cy="594360"/>
          </a:xfrm>
          <a:prstGeom prst="ellipse">
            <a:avLst/>
          </a:prstGeom>
          <a:solidFill>
            <a:schemeClr val="accent4"/>
          </a:solidFill>
          <a:ln w="12700">
            <a:solidFill>
              <a:schemeClr val="accent4"/>
            </a:solidFill>
            <a:prstDash val="solid"/>
          </a:ln>
        </p:spPr>
      </p:sp>
      <p:pic>
        <p:nvPicPr>
          <p:cNvPr id="30" name="Reports icon" descr="Reports">    </p:cNvPr>
          <p:cNvPicPr>
            <a:picLocks noChangeAspect="1"/>
          </p:cNvPicPr>
          <p:nvPr/>
        </p:nvPicPr>
        <p:blipFill>
          <a:blip r:embed="rId6"/>
          <a:stretch>
            <a:fillRect/>
          </a:stretch>
        </p:blipFill>
        <p:spPr>
          <a:xfrm>
            <a:off x="8515350" y="3394710"/>
            <a:ext cx="297180" cy="297180"/>
          </a:xfrm>
          <a:prstGeom prst="rect">
            <a:avLst/>
          </a:prstGeom>
        </p:spPr>
      </p:pic>
      <p:sp>
        <p:nvSpPr>
          <p:cNvPr id="31" name="Text 23"/>
          <p:cNvSpPr txBox="1"/>
          <p:nvPr/>
        </p:nvSpPr>
        <p:spPr>
          <a:xfrm>
            <a:off x="9098280" y="3218688"/>
            <a:ext cx="2423160" cy="365760"/>
          </a:xfrm>
          <a:prstGeom prst="rect">
            <a:avLst/>
          </a:prstGeom>
          <a:noFill/>
          <a:ln/>
        </p:spPr>
        <p:txBody>
          <a:bodyPr wrap="square" lIns="0" tIns="0" rIns="0" bIns="0" rtlCol="0" anchor="ctr"/>
          <a:lstStyle/>
          <a:p>
            <a:pPr indent="0" marL="0">
              <a:buNone/>
            </a:pPr>
            <a:r>
              <a:rPr lang="en-US" sz="1700" b="1" dirty="0">
                <a:solidFill>
                  <a:schemeClr val="tx2"/>
                </a:solidFill>
              </a:rPr>
              <a:t>Reports</a:t>
            </a:r>
            <a:endParaRPr lang="en-US" sz="1700" dirty="0"/>
          </a:p>
        </p:txBody>
      </p:sp>
      <p:sp>
        <p:nvSpPr>
          <p:cNvPr id="32" name="Text 24"/>
          <p:cNvSpPr txBox="1"/>
          <p:nvPr/>
        </p:nvSpPr>
        <p:spPr>
          <a:xfrm>
            <a:off x="9098280" y="3611880"/>
            <a:ext cx="2423160" cy="731520"/>
          </a:xfrm>
          <a:prstGeom prst="rect">
            <a:avLst/>
          </a:prstGeom>
          <a:noFill/>
          <a:ln/>
        </p:spPr>
        <p:txBody>
          <a:bodyPr wrap="square" lIns="0" tIns="0" rIns="0" bIns="0" rtlCol="0" anchor="t"/>
          <a:lstStyle/>
          <a:p>
            <a:pPr indent="0" marL="0">
              <a:buNone/>
            </a:pPr>
            <a:r>
              <a:rPr lang="en-US" sz="1400" dirty="0">
                <a:solidFill>
                  <a:schemeClr val="tx1"/>
                </a:solidFill>
              </a:rPr>
              <a:t>Seven reports with charts and CSV export</a:t>
            </a:r>
            <a:endParaRPr lang="en-US" sz="1400" dirty="0"/>
          </a:p>
        </p:txBody>
      </p:sp>
      <p:sp>
        <p:nvSpPr>
          <p:cNvPr id="33" name="Risk formula panel"/>
          <p:cNvSpPr/>
          <p:nvPr/>
        </p:nvSpPr>
        <p:spPr>
          <a:xfrm>
            <a:off x="548640" y="4754880"/>
            <a:ext cx="11064240" cy="1371600"/>
          </a:xfrm>
          <a:prstGeom prst="roundRect">
            <a:avLst>
              <a:gd name="adj" fmla="val 8000"/>
            </a:avLst>
          </a:prstGeom>
          <a:solidFill>
            <a:schemeClr val="tx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34" name="Text 26"/>
          <p:cNvSpPr txBox="1"/>
          <p:nvPr/>
        </p:nvSpPr>
        <p:spPr>
          <a:xfrm>
            <a:off x="822960" y="4846320"/>
            <a:ext cx="6400800" cy="365760"/>
          </a:xfrm>
          <a:prstGeom prst="rect">
            <a:avLst/>
          </a:prstGeom>
          <a:noFill/>
          <a:ln/>
        </p:spPr>
        <p:txBody>
          <a:bodyPr wrap="square" lIns="0" tIns="0" rIns="0" bIns="0" rtlCol="0" anchor="ctr"/>
          <a:lstStyle/>
          <a:p>
            <a:pPr indent="0" marL="0">
              <a:buNone/>
            </a:pPr>
            <a:r>
              <a:rPr lang="en-US" sz="1400" b="1" dirty="0">
                <a:solidFill>
                  <a:schemeClr val="accent2"/>
                </a:solidFill>
              </a:rPr>
              <a:t>How the risk score is calculated</a:t>
            </a:r>
            <a:endParaRPr lang="en-US" sz="1400" dirty="0"/>
          </a:p>
        </p:txBody>
      </p:sp>
      <p:sp>
        <p:nvSpPr>
          <p:cNvPr id="35" name="Text 27"/>
          <p:cNvSpPr txBox="1"/>
          <p:nvPr/>
        </p:nvSpPr>
        <p:spPr>
          <a:xfrm>
            <a:off x="822960" y="5257800"/>
            <a:ext cx="6949440" cy="457200"/>
          </a:xfrm>
          <a:prstGeom prst="rect">
            <a:avLst/>
          </a:prstGeom>
          <a:noFill/>
          <a:ln/>
        </p:spPr>
        <p:txBody>
          <a:bodyPr wrap="square" lIns="0" tIns="0" rIns="0" bIns="0" rtlCol="0" anchor="ctr"/>
          <a:lstStyle/>
          <a:p>
            <a:pPr indent="0" marL="0">
              <a:buNone/>
            </a:pPr>
            <a:r>
              <a:rPr lang="en-US" sz="1900" b="1" dirty="0">
                <a:solidFill>
                  <a:schemeClr val="bg1"/>
                </a:solidFill>
              </a:rPr>
              <a:t>Risk = </a:t>
            </a:r>
            <a:pPr indent="0" marL="0">
              <a:buNone/>
            </a:pPr>
            <a:r>
              <a:rPr lang="en-US" sz="1900" b="1" dirty="0">
                <a:solidFill>
                  <a:schemeClr val="accent2"/>
                </a:solidFill>
              </a:rPr>
              <a:t>35%</a:t>
            </a:r>
            <a:pPr indent="0" marL="0">
              <a:buNone/>
            </a:pPr>
            <a:r>
              <a:rPr lang="en-US" sz="1900" dirty="0">
                <a:solidFill>
                  <a:schemeClr val="bg1"/>
                </a:solidFill>
              </a:rPr>
              <a:t> Attendance + </a:t>
            </a:r>
            <a:pPr indent="0" marL="0">
              <a:buNone/>
            </a:pPr>
            <a:r>
              <a:rPr lang="en-US" sz="1900" b="1" dirty="0">
                <a:solidFill>
                  <a:schemeClr val="accent2"/>
                </a:solidFill>
              </a:rPr>
              <a:t>40%</a:t>
            </a:r>
            <a:pPr indent="0" marL="0">
              <a:buNone/>
            </a:pPr>
            <a:r>
              <a:rPr lang="en-US" sz="1900" dirty="0">
                <a:solidFill>
                  <a:schemeClr val="bg1"/>
                </a:solidFill>
              </a:rPr>
              <a:t> Academic + </a:t>
            </a:r>
            <a:pPr indent="0" marL="0">
              <a:buNone/>
            </a:pPr>
            <a:r>
              <a:rPr lang="en-US" sz="1900" b="1" dirty="0">
                <a:solidFill>
                  <a:schemeClr val="accent2"/>
                </a:solidFill>
              </a:rPr>
              <a:t>25%</a:t>
            </a:r>
            <a:pPr indent="0" marL="0">
              <a:buNone/>
            </a:pPr>
            <a:r>
              <a:rPr lang="en-US" sz="1900" dirty="0">
                <a:solidFill>
                  <a:schemeClr val="bg1"/>
                </a:solidFill>
              </a:rPr>
              <a:t> Engagement</a:t>
            </a:r>
            <a:endParaRPr lang="en-US" sz="1900" dirty="0"/>
          </a:p>
        </p:txBody>
      </p:sp>
      <p:sp>
        <p:nvSpPr>
          <p:cNvPr id="36" name="Text 28"/>
          <p:cNvSpPr txBox="1"/>
          <p:nvPr/>
        </p:nvSpPr>
        <p:spPr>
          <a:xfrm>
            <a:off x="822960" y="5715000"/>
            <a:ext cx="6766560" cy="320040"/>
          </a:xfrm>
          <a:prstGeom prst="rect">
            <a:avLst/>
          </a:prstGeom>
          <a:noFill/>
          <a:ln/>
        </p:spPr>
        <p:txBody>
          <a:bodyPr wrap="square" lIns="0" tIns="0" rIns="0" bIns="0" rtlCol="0" anchor="ctr"/>
          <a:lstStyle/>
          <a:p>
            <a:pPr indent="0" marL="0">
              <a:buNone/>
            </a:pPr>
            <a:r>
              <a:rPr lang="en-US" sz="1300" i="1" dirty="0">
                <a:solidFill>
                  <a:srgbClr val="CADCFC"/>
                </a:solidFill>
              </a:rPr>
              <a:t>Missing data is left out, not counted as zero</a:t>
            </a:r>
            <a:endParaRPr lang="en-US" sz="1300" dirty="0"/>
          </a:p>
        </p:txBody>
      </p:sp>
      <p:sp>
        <p:nvSpPr>
          <p:cNvPr id="37" name="Low band"/>
          <p:cNvSpPr/>
          <p:nvPr/>
        </p:nvSpPr>
        <p:spPr>
          <a:xfrm>
            <a:off x="7863840" y="5074920"/>
            <a:ext cx="1097280" cy="777240"/>
          </a:xfrm>
          <a:prstGeom prst="roundRect">
            <a:avLst>
              <a:gd name="adj" fmla="val 11765"/>
            </a:avLst>
          </a:prstGeom>
          <a:solidFill>
            <a:schemeClr val="accent4"/>
          </a:solidFill>
          <a:ln w="12700">
            <a:solidFill>
              <a:schemeClr val="accent4"/>
            </a:solidFill>
            <a:prstDash val="solid"/>
          </a:ln>
        </p:spPr>
      </p:sp>
      <p:sp>
        <p:nvSpPr>
          <p:cNvPr id="38" name="Text 30"/>
          <p:cNvSpPr txBox="1"/>
          <p:nvPr/>
        </p:nvSpPr>
        <p:spPr>
          <a:xfrm>
            <a:off x="7863840" y="5074920"/>
            <a:ext cx="1097280" cy="777240"/>
          </a:xfrm>
          <a:prstGeom prst="rect">
            <a:avLst/>
          </a:prstGeom>
          <a:noFill/>
          <a:ln/>
        </p:spPr>
        <p:txBody>
          <a:bodyPr wrap="square" lIns="0" tIns="0" rIns="0" bIns="0" rtlCol="0" anchor="ctr"/>
          <a:lstStyle/>
          <a:p>
            <a:pPr algn="ctr" indent="0" marL="0">
              <a:buNone/>
            </a:pPr>
            <a:r>
              <a:rPr lang="en-US" sz="1500" b="1" dirty="0">
                <a:solidFill>
                  <a:schemeClr val="bg1"/>
                </a:solidFill>
              </a:rPr>
              <a:t>Low</a:t>
            </a:r>
            <a:endParaRPr lang="en-US" sz="1500" dirty="0"/>
          </a:p>
          <a:p>
            <a:pPr algn="ctr" indent="0" marL="0">
              <a:buNone/>
            </a:pPr>
            <a:r>
              <a:rPr lang="en-US" sz="1300" dirty="0">
                <a:solidFill>
                  <a:schemeClr val="bg1"/>
                </a:solidFill>
              </a:rPr>
              <a:t>0–29</a:t>
            </a:r>
            <a:endParaRPr lang="en-US" sz="1500" dirty="0"/>
          </a:p>
        </p:txBody>
      </p:sp>
      <p:sp>
        <p:nvSpPr>
          <p:cNvPr id="39" name="Medium band"/>
          <p:cNvSpPr/>
          <p:nvPr/>
        </p:nvSpPr>
        <p:spPr>
          <a:xfrm>
            <a:off x="9079992" y="5074920"/>
            <a:ext cx="1097280" cy="777240"/>
          </a:xfrm>
          <a:prstGeom prst="roundRect">
            <a:avLst>
              <a:gd name="adj" fmla="val 11765"/>
            </a:avLst>
          </a:prstGeom>
          <a:solidFill>
            <a:schemeClr val="accent2"/>
          </a:solidFill>
          <a:ln w="12700">
            <a:solidFill>
              <a:schemeClr val="accent2"/>
            </a:solidFill>
            <a:prstDash val="solid"/>
          </a:ln>
        </p:spPr>
      </p:sp>
      <p:sp>
        <p:nvSpPr>
          <p:cNvPr id="40" name="Text 32"/>
          <p:cNvSpPr txBox="1"/>
          <p:nvPr/>
        </p:nvSpPr>
        <p:spPr>
          <a:xfrm>
            <a:off x="9079992" y="5074920"/>
            <a:ext cx="1097280" cy="777240"/>
          </a:xfrm>
          <a:prstGeom prst="rect">
            <a:avLst/>
          </a:prstGeom>
          <a:noFill/>
          <a:ln/>
        </p:spPr>
        <p:txBody>
          <a:bodyPr wrap="square" lIns="0" tIns="0" rIns="0" bIns="0" rtlCol="0" anchor="ctr"/>
          <a:lstStyle/>
          <a:p>
            <a:pPr algn="ctr" indent="0" marL="0">
              <a:buNone/>
            </a:pPr>
            <a:r>
              <a:rPr lang="en-US" sz="1500" b="1" dirty="0">
                <a:solidFill>
                  <a:schemeClr val="bg1"/>
                </a:solidFill>
              </a:rPr>
              <a:t>Medium</a:t>
            </a:r>
            <a:endParaRPr lang="en-US" sz="1500" dirty="0"/>
          </a:p>
          <a:p>
            <a:pPr algn="ctr" indent="0" marL="0">
              <a:buNone/>
            </a:pPr>
            <a:r>
              <a:rPr lang="en-US" sz="1300" dirty="0">
                <a:solidFill>
                  <a:schemeClr val="bg1"/>
                </a:solidFill>
              </a:rPr>
              <a:t>30–59</a:t>
            </a:r>
            <a:endParaRPr lang="en-US" sz="1500" dirty="0"/>
          </a:p>
        </p:txBody>
      </p:sp>
      <p:sp>
        <p:nvSpPr>
          <p:cNvPr id="41" name="High band"/>
          <p:cNvSpPr/>
          <p:nvPr/>
        </p:nvSpPr>
        <p:spPr>
          <a:xfrm>
            <a:off x="10296144" y="5074920"/>
            <a:ext cx="1097280" cy="777240"/>
          </a:xfrm>
          <a:prstGeom prst="roundRect">
            <a:avLst>
              <a:gd name="adj" fmla="val 11765"/>
            </a:avLst>
          </a:prstGeom>
          <a:solidFill>
            <a:schemeClr val="accent3"/>
          </a:solidFill>
          <a:ln w="12700">
            <a:solidFill>
              <a:schemeClr val="accent3"/>
            </a:solidFill>
            <a:prstDash val="solid"/>
          </a:ln>
        </p:spPr>
      </p:sp>
      <p:sp>
        <p:nvSpPr>
          <p:cNvPr id="42" name="Text 34"/>
          <p:cNvSpPr txBox="1"/>
          <p:nvPr/>
        </p:nvSpPr>
        <p:spPr>
          <a:xfrm>
            <a:off x="10296144" y="5074920"/>
            <a:ext cx="1097280" cy="777240"/>
          </a:xfrm>
          <a:prstGeom prst="rect">
            <a:avLst/>
          </a:prstGeom>
          <a:noFill/>
          <a:ln/>
        </p:spPr>
        <p:txBody>
          <a:bodyPr wrap="square" lIns="0" tIns="0" rIns="0" bIns="0" rtlCol="0" anchor="ctr"/>
          <a:lstStyle/>
          <a:p>
            <a:pPr algn="ctr" indent="0" marL="0">
              <a:buNone/>
            </a:pPr>
            <a:r>
              <a:rPr lang="en-US" sz="1500" b="1" dirty="0">
                <a:solidFill>
                  <a:schemeClr val="bg1"/>
                </a:solidFill>
              </a:rPr>
              <a:t>High</a:t>
            </a:r>
            <a:endParaRPr lang="en-US" sz="1500" dirty="0"/>
          </a:p>
          <a:p>
            <a:pPr algn="ctr" indent="0" marL="0">
              <a:buNone/>
            </a:pPr>
            <a:r>
              <a:rPr lang="en-US" sz="1300" dirty="0">
                <a:solidFill>
                  <a:schemeClr val="bg1"/>
                </a:solidFill>
              </a:rPr>
              <a:t>60–100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Database Design</a:t>
            </a:r>
            <a:endParaRPr lang="en-US" sz="3600" dirty="0"/>
          </a:p>
        </p:txBody>
      </p:sp>
      <p:sp>
        <p:nvSpPr>
          <p:cNvPr id="3" name="Diagram frame"/>
          <p:cNvSpPr/>
          <p:nvPr/>
        </p:nvSpPr>
        <p:spPr>
          <a:xfrm>
            <a:off x="548640" y="1325880"/>
            <a:ext cx="6035040" cy="3383280"/>
          </a:xfrm>
          <a:prstGeom prst="roundRect">
            <a:avLst>
              <a:gd name="adj" fmla="val 3243"/>
            </a:avLst>
          </a:prstGeom>
          <a:solidFill>
            <a:schemeClr val="bg1"/>
          </a:solidFill>
          <a:ln w="9525">
            <a:solidFill>
              <a:srgbClr val="D6DEEA"/>
            </a:solidFill>
            <a:prstDash val="solid"/>
          </a:ln>
          <a:effectLst>
            <a:outerShdw sx="100000" sy="100000" kx="0" ky="0" algn="bl" rotWithShape="0" blurRad="76200" dist="25400" dir="5400000">
              <a:srgbClr val="13315C">
                <a:alpha val="12000"/>
              </a:srgbClr>
            </a:outerShdw>
          </a:effectLst>
        </p:spPr>
      </p:sp>
      <p:pic>
        <p:nvPicPr>
          <p:cNvPr id="4" name="Image 0" descr="Diagram: students and courses link through enrollments; attendance, LMS activity, results and risk assessments hang off enrollments; risk alerts lead to interventions and status history">    </p:cNvPr>
          <p:cNvPicPr>
            <a:picLocks noChangeAspect="1"/>
          </p:cNvPicPr>
          <p:nvPr/>
        </p:nvPicPr>
        <p:blipFill>
          <a:blip r:embed="rId1"/>
          <a:stretch>
            <a:fillRect/>
          </a:stretch>
        </p:blipFill>
        <p:spPr>
          <a:xfrm>
            <a:off x="685800" y="1463040"/>
            <a:ext cx="5760720" cy="2907792"/>
          </a:xfrm>
          <a:prstGeom prst="rect">
            <a:avLst/>
          </a:prstGeom>
        </p:spPr>
      </p:pic>
      <p:sp>
        <p:nvSpPr>
          <p:cNvPr id="5" name="Text 2"/>
          <p:cNvSpPr txBox="1"/>
          <p:nvPr/>
        </p:nvSpPr>
        <p:spPr>
          <a:xfrm>
            <a:off x="685800" y="4370832"/>
            <a:ext cx="5760720" cy="274320"/>
          </a:xfrm>
          <a:prstGeom prst="rect">
            <a:avLst/>
          </a:prstGeom>
          <a:noFill/>
          <a:ln/>
        </p:spPr>
        <p:txBody>
          <a:bodyPr wrap="square" lIns="0" tIns="0" rIns="0" bIns="0" rtlCol="0" anchor="ctr"/>
          <a:lstStyle/>
          <a:p>
            <a:pPr algn="ctr" indent="0" marL="0">
              <a:buNone/>
            </a:pPr>
            <a:r>
              <a:rPr lang="en-US" sz="1200" i="1" dirty="0">
                <a:solidFill>
                  <a:schemeClr val="accent5"/>
                </a:solidFill>
              </a:rPr>
              <a:t>Every record links through the enrollments table</a:t>
            </a:r>
            <a:endParaRPr lang="en-US" sz="1200" dirty="0"/>
          </a:p>
        </p:txBody>
      </p:sp>
      <p:sp>
        <p:nvSpPr>
          <p:cNvPr id="6" name="Text 3"/>
          <p:cNvSpPr txBox="1"/>
          <p:nvPr/>
        </p:nvSpPr>
        <p:spPr>
          <a:xfrm>
            <a:off x="6949440" y="1325880"/>
            <a:ext cx="4663440" cy="365760"/>
          </a:xfrm>
          <a:prstGeom prst="rect">
            <a:avLst/>
          </a:prstGeom>
          <a:noFill/>
          <a:ln/>
        </p:spPr>
        <p:txBody>
          <a:bodyPr wrap="square" lIns="0" tIns="0" rIns="0" bIns="0" rtlCol="0" anchor="ctr"/>
          <a:lstStyle/>
          <a:p>
            <a:pPr indent="0" marL="0">
              <a:buNone/>
            </a:pPr>
            <a:r>
              <a:rPr lang="en-US" sz="1800" b="1" dirty="0">
                <a:solidFill>
                  <a:schemeClr val="tx2"/>
                </a:solidFill>
              </a:rPr>
              <a:t>Main relationships</a:t>
            </a:r>
            <a:endParaRPr lang="en-US" sz="1800" dirty="0"/>
          </a:p>
        </p:txBody>
      </p:sp>
      <p:sp>
        <p:nvSpPr>
          <p:cNvPr id="7" name="Text 4"/>
          <p:cNvSpPr txBox="1"/>
          <p:nvPr/>
        </p:nvSpPr>
        <p:spPr>
          <a:xfrm>
            <a:off x="6949440" y="1737360"/>
            <a:ext cx="466344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Students and courses are many-to-many, joined by enrollments</a:t>
            </a:r>
            <a:endParaRPr lang="en-US" sz="1400" dirty="0"/>
          </a:p>
          <a:p>
            <a:pPr marL="342900" indent="-342900">
              <a:spcAft>
                <a:spcPts val="600"/>
              </a:spcAft>
              <a:buSzPct val="100000"/>
              <a:buChar char="•"/>
            </a:pPr>
            <a:r>
              <a:rPr lang="en-US" sz="1400" dirty="0">
                <a:solidFill>
                  <a:schemeClr val="tx1"/>
                </a:solidFill>
              </a:rPr>
              <a:t>Attendance, marks, activity, risk and alerts all point to one enrollment</a:t>
            </a:r>
            <a:endParaRPr lang="en-US" sz="1400" dirty="0"/>
          </a:p>
          <a:p>
            <a:pPr marL="342900" indent="-342900">
              <a:spcAft>
                <a:spcPts val="600"/>
              </a:spcAft>
              <a:buSzPct val="100000"/>
              <a:buChar char="•"/>
            </a:pPr>
            <a:r>
              <a:rPr lang="en-US" sz="1400" dirty="0">
                <a:solidFill>
                  <a:schemeClr val="tx1"/>
                </a:solidFill>
              </a:rPr>
              <a:t>16 tables in third normal form (3NF)</a:t>
            </a:r>
            <a:endParaRPr lang="en-US" sz="1400" dirty="0"/>
          </a:p>
        </p:txBody>
      </p:sp>
      <p:sp>
        <p:nvSpPr>
          <p:cNvPr id="8" name="Text 5"/>
          <p:cNvSpPr txBox="1"/>
          <p:nvPr/>
        </p:nvSpPr>
        <p:spPr>
          <a:xfrm>
            <a:off x="6949440" y="3200400"/>
            <a:ext cx="4663440" cy="365760"/>
          </a:xfrm>
          <a:prstGeom prst="rect">
            <a:avLst/>
          </a:prstGeom>
          <a:noFill/>
          <a:ln/>
        </p:spPr>
        <p:txBody>
          <a:bodyPr wrap="square" lIns="0" tIns="0" rIns="0" bIns="0" rtlCol="0" anchor="ctr"/>
          <a:lstStyle/>
          <a:p>
            <a:pPr indent="0" marL="0">
              <a:buNone/>
            </a:pPr>
            <a:r>
              <a:rPr lang="en-US" sz="1800" b="1" dirty="0">
                <a:solidFill>
                  <a:schemeClr val="tx2"/>
                </a:solidFill>
              </a:rPr>
              <a:t>How MySQL helps the app</a:t>
            </a:r>
            <a:endParaRPr lang="en-US" sz="1800" dirty="0"/>
          </a:p>
        </p:txBody>
      </p:sp>
      <p:sp>
        <p:nvSpPr>
          <p:cNvPr id="9" name="Text 6"/>
          <p:cNvSpPr txBox="1"/>
          <p:nvPr/>
        </p:nvSpPr>
        <p:spPr>
          <a:xfrm>
            <a:off x="6949440" y="3611880"/>
            <a:ext cx="466344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Constraints and triggers block wrong data</a:t>
            </a:r>
            <a:endParaRPr lang="en-US" sz="1400" dirty="0"/>
          </a:p>
          <a:p>
            <a:pPr marL="342900" indent="-342900">
              <a:spcAft>
                <a:spcPts val="600"/>
              </a:spcAft>
              <a:buSzPct val="100000"/>
              <a:buChar char="•"/>
            </a:pPr>
            <a:r>
              <a:rPr lang="en-US" sz="1400" dirty="0">
                <a:solidFill>
                  <a:schemeClr val="tx1"/>
                </a:solidFill>
              </a:rPr>
              <a:t>A stored procedure calculates the risk score</a:t>
            </a:r>
            <a:endParaRPr lang="en-US" sz="1400" dirty="0"/>
          </a:p>
          <a:p>
            <a:pPr marL="342900" indent="-342900">
              <a:spcAft>
                <a:spcPts val="600"/>
              </a:spcAft>
              <a:buSzPct val="100000"/>
              <a:buChar char="•"/>
            </a:pPr>
            <a:r>
              <a:rPr lang="en-US" sz="1400" dirty="0">
                <a:solidFill>
                  <a:schemeClr val="tx1"/>
                </a:solidFill>
              </a:rPr>
              <a:t>Triggers keep an audit log of changes</a:t>
            </a:r>
            <a:endParaRPr lang="en-US" sz="1400" dirty="0"/>
          </a:p>
        </p:txBody>
      </p:sp>
      <p:sp>
        <p:nvSpPr>
          <p:cNvPr id="10" name="tables stat"/>
          <p:cNvSpPr/>
          <p:nvPr/>
        </p:nvSpPr>
        <p:spPr>
          <a:xfrm>
            <a:off x="548640" y="4983480"/>
            <a:ext cx="2560320" cy="1143000"/>
          </a:xfrm>
          <a:prstGeom prst="roundRect">
            <a:avLst>
              <a:gd name="adj" fmla="val 9600"/>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1" name="Text 8"/>
          <p:cNvSpPr txBox="1"/>
          <p:nvPr/>
        </p:nvSpPr>
        <p:spPr>
          <a:xfrm>
            <a:off x="731520" y="5029200"/>
            <a:ext cx="219456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16</a:t>
            </a:r>
            <a:endParaRPr lang="en-US" sz="3600" dirty="0"/>
          </a:p>
        </p:txBody>
      </p:sp>
      <p:sp>
        <p:nvSpPr>
          <p:cNvPr id="12" name="Text 9"/>
          <p:cNvSpPr txBox="1"/>
          <p:nvPr/>
        </p:nvSpPr>
        <p:spPr>
          <a:xfrm>
            <a:off x="731520" y="5669280"/>
            <a:ext cx="2194560" cy="320040"/>
          </a:xfrm>
          <a:prstGeom prst="rect">
            <a:avLst/>
          </a:prstGeom>
          <a:noFill/>
          <a:ln/>
        </p:spPr>
        <p:txBody>
          <a:bodyPr wrap="square" lIns="0" tIns="0" rIns="0" bIns="0" rtlCol="0" anchor="ctr"/>
          <a:lstStyle/>
          <a:p>
            <a:pPr algn="ctr" indent="0" marL="0">
              <a:buNone/>
            </a:pPr>
            <a:r>
              <a:rPr lang="en-US" sz="1400" dirty="0">
                <a:solidFill>
                  <a:schemeClr val="tx1"/>
                </a:solidFill>
              </a:rPr>
              <a:t>tables</a:t>
            </a:r>
            <a:endParaRPr lang="en-US" sz="1400" dirty="0"/>
          </a:p>
        </p:txBody>
      </p:sp>
      <p:sp>
        <p:nvSpPr>
          <p:cNvPr id="13" name="views stat"/>
          <p:cNvSpPr/>
          <p:nvPr/>
        </p:nvSpPr>
        <p:spPr>
          <a:xfrm>
            <a:off x="3383280" y="4983480"/>
            <a:ext cx="2560320" cy="1143000"/>
          </a:xfrm>
          <a:prstGeom prst="roundRect">
            <a:avLst>
              <a:gd name="adj" fmla="val 9600"/>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4" name="Text 11"/>
          <p:cNvSpPr txBox="1"/>
          <p:nvPr/>
        </p:nvSpPr>
        <p:spPr>
          <a:xfrm>
            <a:off x="3566160" y="5029200"/>
            <a:ext cx="219456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12</a:t>
            </a:r>
            <a:endParaRPr lang="en-US" sz="3600" dirty="0"/>
          </a:p>
        </p:txBody>
      </p:sp>
      <p:sp>
        <p:nvSpPr>
          <p:cNvPr id="15" name="Text 12"/>
          <p:cNvSpPr txBox="1"/>
          <p:nvPr/>
        </p:nvSpPr>
        <p:spPr>
          <a:xfrm>
            <a:off x="3566160" y="5669280"/>
            <a:ext cx="2194560" cy="320040"/>
          </a:xfrm>
          <a:prstGeom prst="rect">
            <a:avLst/>
          </a:prstGeom>
          <a:noFill/>
          <a:ln/>
        </p:spPr>
        <p:txBody>
          <a:bodyPr wrap="square" lIns="0" tIns="0" rIns="0" bIns="0" rtlCol="0" anchor="ctr"/>
          <a:lstStyle/>
          <a:p>
            <a:pPr algn="ctr" indent="0" marL="0">
              <a:buNone/>
            </a:pPr>
            <a:r>
              <a:rPr lang="en-US" sz="1400" dirty="0">
                <a:solidFill>
                  <a:schemeClr val="tx1"/>
                </a:solidFill>
              </a:rPr>
              <a:t>views</a:t>
            </a:r>
            <a:endParaRPr lang="en-US" sz="1400" dirty="0"/>
          </a:p>
        </p:txBody>
      </p:sp>
      <p:sp>
        <p:nvSpPr>
          <p:cNvPr id="16" name="procedures &amp; functions stat"/>
          <p:cNvSpPr/>
          <p:nvPr/>
        </p:nvSpPr>
        <p:spPr>
          <a:xfrm>
            <a:off x="6217920" y="4983480"/>
            <a:ext cx="2560320" cy="1143000"/>
          </a:xfrm>
          <a:prstGeom prst="roundRect">
            <a:avLst>
              <a:gd name="adj" fmla="val 9600"/>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17" name="Text 14"/>
          <p:cNvSpPr txBox="1"/>
          <p:nvPr/>
        </p:nvSpPr>
        <p:spPr>
          <a:xfrm>
            <a:off x="6400800" y="5029200"/>
            <a:ext cx="219456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9</a:t>
            </a:r>
            <a:endParaRPr lang="en-US" sz="3600" dirty="0"/>
          </a:p>
        </p:txBody>
      </p:sp>
      <p:sp>
        <p:nvSpPr>
          <p:cNvPr id="18" name="Text 15"/>
          <p:cNvSpPr txBox="1"/>
          <p:nvPr/>
        </p:nvSpPr>
        <p:spPr>
          <a:xfrm>
            <a:off x="6400800" y="5669280"/>
            <a:ext cx="2194560" cy="320040"/>
          </a:xfrm>
          <a:prstGeom prst="rect">
            <a:avLst/>
          </a:prstGeom>
          <a:noFill/>
          <a:ln/>
        </p:spPr>
        <p:txBody>
          <a:bodyPr wrap="square" lIns="0" tIns="0" rIns="0" bIns="0" rtlCol="0" anchor="ctr"/>
          <a:lstStyle/>
          <a:p>
            <a:pPr algn="ctr" indent="0" marL="0">
              <a:buNone/>
            </a:pPr>
            <a:r>
              <a:rPr lang="en-US" sz="1400" dirty="0">
                <a:solidFill>
                  <a:schemeClr val="tx1"/>
                </a:solidFill>
              </a:rPr>
              <a:t>procedures &amp; functions</a:t>
            </a:r>
            <a:endParaRPr lang="en-US" sz="1400" dirty="0"/>
          </a:p>
        </p:txBody>
      </p:sp>
      <p:sp>
        <p:nvSpPr>
          <p:cNvPr id="19" name="triggers stat"/>
          <p:cNvSpPr/>
          <p:nvPr/>
        </p:nvSpPr>
        <p:spPr>
          <a:xfrm>
            <a:off x="9052560" y="4983480"/>
            <a:ext cx="2560320" cy="1143000"/>
          </a:xfrm>
          <a:prstGeom prst="roundRect">
            <a:avLst>
              <a:gd name="adj" fmla="val 9600"/>
            </a:avLst>
          </a:prstGeom>
          <a:solidFill>
            <a:schemeClr val="bg2"/>
          </a:solidFill>
          <a:ln w="9525">
            <a:solidFill>
              <a:srgbClr val="D6DEEA"/>
            </a:solidFill>
            <a:prstDash val="solid"/>
          </a:ln>
          <a:effectLst>
            <a:outerShdw sx="100000" sy="100000" kx="0" ky="0" algn="bl" rotWithShape="0" blurRad="76200" dist="25400" dir="5400000">
              <a:srgbClr val="13315C">
                <a:alpha val="12000"/>
              </a:srgbClr>
            </a:outerShdw>
          </a:effectLst>
        </p:spPr>
      </p:sp>
      <p:sp>
        <p:nvSpPr>
          <p:cNvPr id="20" name="Text 17"/>
          <p:cNvSpPr txBox="1"/>
          <p:nvPr/>
        </p:nvSpPr>
        <p:spPr>
          <a:xfrm>
            <a:off x="9235440" y="5029200"/>
            <a:ext cx="2194560" cy="64008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12</a:t>
            </a:r>
            <a:endParaRPr lang="en-US" sz="3600" dirty="0"/>
          </a:p>
        </p:txBody>
      </p:sp>
      <p:sp>
        <p:nvSpPr>
          <p:cNvPr id="21" name="Text 18"/>
          <p:cNvSpPr txBox="1"/>
          <p:nvPr/>
        </p:nvSpPr>
        <p:spPr>
          <a:xfrm>
            <a:off x="9235440" y="5669280"/>
            <a:ext cx="2194560" cy="320040"/>
          </a:xfrm>
          <a:prstGeom prst="rect">
            <a:avLst/>
          </a:prstGeom>
          <a:noFill/>
          <a:ln/>
        </p:spPr>
        <p:txBody>
          <a:bodyPr wrap="square" lIns="0" tIns="0" rIns="0" bIns="0" rtlCol="0" anchor="ctr"/>
          <a:lstStyle/>
          <a:p>
            <a:pPr algn="ctr" indent="0" marL="0">
              <a:buNone/>
            </a:pPr>
            <a:r>
              <a:rPr lang="en-US" sz="1400" dirty="0">
                <a:solidFill>
                  <a:schemeClr val="tx1"/>
                </a:solidFill>
              </a:rPr>
              <a:t>triggers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Demo</a:t>
            </a:r>
            <a:endParaRPr lang="en-US" sz="3600" dirty="0"/>
          </a:p>
        </p:txBody>
      </p:sp>
      <p:sp>
        <p:nvSpPr>
          <p:cNvPr id="3" name="Text 1"/>
          <p:cNvSpPr txBox="1"/>
          <p:nvPr/>
        </p:nvSpPr>
        <p:spPr>
          <a:xfrm>
            <a:off x="548640" y="1280160"/>
            <a:ext cx="5394960" cy="320040"/>
          </a:xfrm>
          <a:prstGeom prst="rect">
            <a:avLst/>
          </a:prstGeom>
          <a:noFill/>
          <a:ln/>
        </p:spPr>
        <p:txBody>
          <a:bodyPr wrap="square" lIns="0" tIns="0" rIns="0" bIns="0" rtlCol="0" anchor="ctr"/>
          <a:lstStyle/>
          <a:p>
            <a:pPr indent="0" marL="0">
              <a:buNone/>
            </a:pPr>
            <a:r>
              <a:rPr lang="en-US" sz="1400" b="1" dirty="0">
                <a:solidFill>
                  <a:schemeClr val="tx2"/>
                </a:solidFill>
              </a:rPr>
              <a:t>1  Dashboard: counters and risk overview</a:t>
            </a:r>
            <a:endParaRPr lang="en-US" sz="1400" dirty="0"/>
          </a:p>
        </p:txBody>
      </p:sp>
      <p:pic>
        <p:nvPicPr>
          <p:cNvPr id="4" name="Image 0" descr="Screenshot: Dashboard: counters and risk overview">    </p:cNvPr>
          <p:cNvPicPr>
            <a:picLocks noChangeAspect="1"/>
          </p:cNvPicPr>
          <p:nvPr/>
        </p:nvPicPr>
        <p:blipFill>
          <a:blip r:embed="rId1"/>
          <a:stretch>
            <a:fillRect/>
          </a:stretch>
        </p:blipFill>
        <p:spPr>
          <a:xfrm>
            <a:off x="548640" y="1645920"/>
            <a:ext cx="5394960" cy="2011680"/>
          </a:xfrm>
          <a:prstGeom prst="rect">
            <a:avLst/>
          </a:prstGeom>
        </p:spPr>
      </p:pic>
      <p:sp>
        <p:nvSpPr>
          <p:cNvPr id="5" name="frame 1"/>
          <p:cNvSpPr/>
          <p:nvPr/>
        </p:nvSpPr>
        <p:spPr>
          <a:xfrm>
            <a:off x="548640" y="1645920"/>
            <a:ext cx="5394960" cy="2011680"/>
          </a:xfrm>
          <a:prstGeom prst="rect">
            <a:avLst/>
          </a:prstGeom>
          <a:ln w="12700">
            <a:solidFill>
              <a:srgbClr val="C9D3E3"/>
            </a:solidFill>
            <a:prstDash val="solid"/>
          </a:ln>
        </p:spPr>
      </p:sp>
      <p:sp>
        <p:nvSpPr>
          <p:cNvPr id="6" name="Text 3"/>
          <p:cNvSpPr txBox="1"/>
          <p:nvPr/>
        </p:nvSpPr>
        <p:spPr>
          <a:xfrm>
            <a:off x="6217920" y="1280160"/>
            <a:ext cx="5394960" cy="320040"/>
          </a:xfrm>
          <a:prstGeom prst="rect">
            <a:avLst/>
          </a:prstGeom>
          <a:noFill/>
          <a:ln/>
        </p:spPr>
        <p:txBody>
          <a:bodyPr wrap="square" lIns="0" tIns="0" rIns="0" bIns="0" rtlCol="0" anchor="ctr"/>
          <a:lstStyle/>
          <a:p>
            <a:pPr indent="0" marL="0">
              <a:buNone/>
            </a:pPr>
            <a:r>
              <a:rPr lang="en-US" sz="1400" b="1" dirty="0">
                <a:solidFill>
                  <a:schemeClr val="tx2"/>
                </a:solidFill>
              </a:rPr>
              <a:t>2  Student details: Pooja Shetty</a:t>
            </a:r>
            <a:endParaRPr lang="en-US" sz="1400" dirty="0"/>
          </a:p>
        </p:txBody>
      </p:sp>
      <p:pic>
        <p:nvPicPr>
          <p:cNvPr id="7" name="Image 1" descr="Screenshot: Student details: Pooja Shetty">    </p:cNvPr>
          <p:cNvPicPr>
            <a:picLocks noChangeAspect="1"/>
          </p:cNvPicPr>
          <p:nvPr/>
        </p:nvPicPr>
        <p:blipFill>
          <a:blip r:embed="rId2"/>
          <a:stretch>
            <a:fillRect/>
          </a:stretch>
        </p:blipFill>
        <p:spPr>
          <a:xfrm>
            <a:off x="6217920" y="1645920"/>
            <a:ext cx="5394960" cy="2011680"/>
          </a:xfrm>
          <a:prstGeom prst="rect">
            <a:avLst/>
          </a:prstGeom>
        </p:spPr>
      </p:pic>
      <p:sp>
        <p:nvSpPr>
          <p:cNvPr id="8" name="frame 2"/>
          <p:cNvSpPr/>
          <p:nvPr/>
        </p:nvSpPr>
        <p:spPr>
          <a:xfrm>
            <a:off x="6217920" y="1645920"/>
            <a:ext cx="5394960" cy="2011680"/>
          </a:xfrm>
          <a:prstGeom prst="rect">
            <a:avLst/>
          </a:prstGeom>
          <a:ln w="12700">
            <a:solidFill>
              <a:srgbClr val="C9D3E3"/>
            </a:solidFill>
            <a:prstDash val="solid"/>
          </a:ln>
        </p:spPr>
      </p:sp>
      <p:sp>
        <p:nvSpPr>
          <p:cNvPr id="9" name="Text 5"/>
          <p:cNvSpPr txBox="1"/>
          <p:nvPr/>
        </p:nvSpPr>
        <p:spPr>
          <a:xfrm>
            <a:off x="548640" y="3794760"/>
            <a:ext cx="5394960" cy="320040"/>
          </a:xfrm>
          <a:prstGeom prst="rect">
            <a:avLst/>
          </a:prstGeom>
          <a:noFill/>
          <a:ln/>
        </p:spPr>
        <p:txBody>
          <a:bodyPr wrap="square" lIns="0" tIns="0" rIns="0" bIns="0" rtlCol="0" anchor="ctr"/>
          <a:lstStyle/>
          <a:p>
            <a:pPr indent="0" marL="0">
              <a:buNone/>
            </a:pPr>
            <a:r>
              <a:rPr lang="en-US" sz="1400" b="1" dirty="0">
                <a:solidFill>
                  <a:schemeClr val="tx2"/>
                </a:solidFill>
              </a:rPr>
              <a:t>3  Risk score: Aisha Menon, 77.8 (High)</a:t>
            </a:r>
            <a:endParaRPr lang="en-US" sz="1400" dirty="0"/>
          </a:p>
        </p:txBody>
      </p:sp>
      <p:pic>
        <p:nvPicPr>
          <p:cNvPr id="10" name="Image 2" descr="Screenshot: Risk score: Aisha Menon, 77.8 (High)">    </p:cNvPr>
          <p:cNvPicPr>
            <a:picLocks noChangeAspect="1"/>
          </p:cNvPicPr>
          <p:nvPr/>
        </p:nvPicPr>
        <p:blipFill>
          <a:blip r:embed="rId3"/>
          <a:stretch>
            <a:fillRect/>
          </a:stretch>
        </p:blipFill>
        <p:spPr>
          <a:xfrm>
            <a:off x="548640" y="4160520"/>
            <a:ext cx="5394960" cy="2011680"/>
          </a:xfrm>
          <a:prstGeom prst="rect">
            <a:avLst/>
          </a:prstGeom>
        </p:spPr>
      </p:pic>
      <p:sp>
        <p:nvSpPr>
          <p:cNvPr id="11" name="frame 3"/>
          <p:cNvSpPr/>
          <p:nvPr/>
        </p:nvSpPr>
        <p:spPr>
          <a:xfrm>
            <a:off x="548640" y="4160520"/>
            <a:ext cx="5394960" cy="2011680"/>
          </a:xfrm>
          <a:prstGeom prst="rect">
            <a:avLst/>
          </a:prstGeom>
          <a:ln w="12700">
            <a:solidFill>
              <a:srgbClr val="C9D3E3"/>
            </a:solidFill>
            <a:prstDash val="solid"/>
          </a:ln>
        </p:spPr>
      </p:sp>
      <p:sp>
        <p:nvSpPr>
          <p:cNvPr id="12" name="Text 7"/>
          <p:cNvSpPr txBox="1"/>
          <p:nvPr/>
        </p:nvSpPr>
        <p:spPr>
          <a:xfrm>
            <a:off x="6217920" y="3794760"/>
            <a:ext cx="5394960" cy="320040"/>
          </a:xfrm>
          <a:prstGeom prst="rect">
            <a:avLst/>
          </a:prstGeom>
          <a:noFill/>
          <a:ln/>
        </p:spPr>
        <p:txBody>
          <a:bodyPr wrap="square" lIns="0" tIns="0" rIns="0" bIns="0" rtlCol="0" anchor="ctr"/>
          <a:lstStyle/>
          <a:p>
            <a:pPr indent="0" marL="0">
              <a:buNone/>
            </a:pPr>
            <a:r>
              <a:rPr lang="en-US" sz="1400" b="1" dirty="0">
                <a:solidFill>
                  <a:schemeClr val="tx2"/>
                </a:solidFill>
              </a:rPr>
              <a:t>4  Alerts: raised automatically</a:t>
            </a:r>
            <a:endParaRPr lang="en-US" sz="1400" dirty="0"/>
          </a:p>
        </p:txBody>
      </p:sp>
      <p:pic>
        <p:nvPicPr>
          <p:cNvPr id="13" name="Image 3" descr="Screenshot: Alerts: raised automatically">    </p:cNvPr>
          <p:cNvPicPr>
            <a:picLocks noChangeAspect="1"/>
          </p:cNvPicPr>
          <p:nvPr/>
        </p:nvPicPr>
        <p:blipFill>
          <a:blip r:embed="rId4"/>
          <a:stretch>
            <a:fillRect/>
          </a:stretch>
        </p:blipFill>
        <p:spPr>
          <a:xfrm>
            <a:off x="6217920" y="4160520"/>
            <a:ext cx="5394960" cy="2011680"/>
          </a:xfrm>
          <a:prstGeom prst="rect">
            <a:avLst/>
          </a:prstGeom>
        </p:spPr>
      </p:pic>
      <p:sp>
        <p:nvSpPr>
          <p:cNvPr id="14" name="frame 4"/>
          <p:cNvSpPr/>
          <p:nvPr/>
        </p:nvSpPr>
        <p:spPr>
          <a:xfrm>
            <a:off x="6217920" y="4160520"/>
            <a:ext cx="5394960" cy="2011680"/>
          </a:xfrm>
          <a:prstGeom prst="rect">
            <a:avLst/>
          </a:prstGeom>
          <a:ln w="12700">
            <a:solidFill>
              <a:srgbClr val="C9D3E3"/>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57200"/>
            <a:ext cx="1069848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Conclusion</a:t>
            </a:r>
            <a:endParaRPr lang="en-US" sz="4000" dirty="0"/>
          </a:p>
        </p:txBody>
      </p:sp>
      <p:sp>
        <p:nvSpPr>
          <p:cNvPr id="3" name="Achieved panel"/>
          <p:cNvSpPr/>
          <p:nvPr/>
        </p:nvSpPr>
        <p:spPr>
          <a:xfrm>
            <a:off x="731520" y="1508760"/>
            <a:ext cx="5212080" cy="3657600"/>
          </a:xfrm>
          <a:prstGeom prst="roundRect">
            <a:avLst>
              <a:gd name="adj" fmla="val 3000"/>
            </a:avLst>
          </a:prstGeom>
          <a:solidFill>
            <a:srgbClr val="1B3F70"/>
          </a:solidFill>
          <a:ln w="12700">
            <a:solidFill>
              <a:srgbClr val="2E5A94"/>
            </a:solidFill>
            <a:prstDash val="solid"/>
          </a:ln>
        </p:spPr>
      </p:sp>
      <p:sp>
        <p:nvSpPr>
          <p:cNvPr id="4" name="What we achieved circle"/>
          <p:cNvSpPr/>
          <p:nvPr/>
        </p:nvSpPr>
        <p:spPr>
          <a:xfrm>
            <a:off x="1051560" y="1737360"/>
            <a:ext cx="640080" cy="640080"/>
          </a:xfrm>
          <a:prstGeom prst="ellipse">
            <a:avLst/>
          </a:prstGeom>
          <a:solidFill>
            <a:schemeClr val="accent4"/>
          </a:solidFill>
          <a:ln w="12700">
            <a:solidFill>
              <a:schemeClr val="accent4"/>
            </a:solidFill>
            <a:prstDash val="solid"/>
          </a:ln>
        </p:spPr>
      </p:sp>
      <p:pic>
        <p:nvPicPr>
          <p:cNvPr id="5" name="What we achieved icon" descr="What we achieved">    </p:cNvPr>
          <p:cNvPicPr>
            <a:picLocks noChangeAspect="1"/>
          </p:cNvPicPr>
          <p:nvPr/>
        </p:nvPicPr>
        <p:blipFill>
          <a:blip r:embed="rId1"/>
          <a:stretch>
            <a:fillRect/>
          </a:stretch>
        </p:blipFill>
        <p:spPr>
          <a:xfrm>
            <a:off x="1211580" y="1897380"/>
            <a:ext cx="320040" cy="320040"/>
          </a:xfrm>
          <a:prstGeom prst="rect">
            <a:avLst/>
          </a:prstGeom>
        </p:spPr>
      </p:pic>
      <p:sp>
        <p:nvSpPr>
          <p:cNvPr id="6" name="Text 3"/>
          <p:cNvSpPr txBox="1"/>
          <p:nvPr/>
        </p:nvSpPr>
        <p:spPr>
          <a:xfrm>
            <a:off x="1874520" y="1783080"/>
            <a:ext cx="3840480" cy="54864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What we achieved</a:t>
            </a:r>
            <a:endParaRPr lang="en-US" sz="2400" dirty="0"/>
          </a:p>
        </p:txBody>
      </p:sp>
      <p:sp>
        <p:nvSpPr>
          <p:cNvPr id="7" name="Text 4"/>
          <p:cNvSpPr txBox="1"/>
          <p:nvPr/>
        </p:nvSpPr>
        <p:spPr>
          <a:xfrm>
            <a:off x="1051560" y="2606040"/>
            <a:ext cx="457200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 working web app with five staff roles</a:t>
            </a:r>
            <a:endParaRPr lang="en-US" sz="1600" dirty="0"/>
          </a:p>
          <a:p>
            <a:pPr marL="342900" indent="-342900">
              <a:spcAft>
                <a:spcPts val="1000"/>
              </a:spcAft>
              <a:buSzPct val="100000"/>
              <a:buChar char="•"/>
            </a:pPr>
            <a:r>
              <a:rPr lang="en-US" sz="1600" dirty="0">
                <a:solidFill>
                  <a:schemeClr val="bg1"/>
                </a:solidFill>
              </a:rPr>
              <a:t>A MySQL database: 16 tables, views, procedures and triggers</a:t>
            </a:r>
            <a:endParaRPr lang="en-US" sz="1600" dirty="0"/>
          </a:p>
          <a:p>
            <a:pPr marL="342900" indent="-342900">
              <a:spcAft>
                <a:spcPts val="1000"/>
              </a:spcAft>
              <a:buSzPct val="100000"/>
              <a:buChar char="•"/>
            </a:pPr>
            <a:r>
              <a:rPr lang="en-US" sz="1600" dirty="0">
                <a:solidFill>
                  <a:schemeClr val="bg1"/>
                </a:solidFill>
              </a:rPr>
              <a:t>Clear risk scores with reasons, and automatic alerts</a:t>
            </a:r>
            <a:endParaRPr lang="en-US" sz="1600" dirty="0"/>
          </a:p>
          <a:p>
            <a:pPr marL="342900" indent="-342900">
              <a:spcAft>
                <a:spcPts val="1000"/>
              </a:spcAft>
              <a:buSzPct val="100000"/>
              <a:buChar char="•"/>
            </a:pPr>
            <a:r>
              <a:rPr lang="en-US" sz="1600" dirty="0">
                <a:solidFill>
                  <a:schemeClr val="bg1"/>
                </a:solidFill>
              </a:rPr>
              <a:t>624 automatic tests; checked on a real MySQL 8 server</a:t>
            </a:r>
            <a:endParaRPr lang="en-US" sz="1600" dirty="0"/>
          </a:p>
        </p:txBody>
      </p:sp>
      <p:sp>
        <p:nvSpPr>
          <p:cNvPr id="8" name="Future panel"/>
          <p:cNvSpPr/>
          <p:nvPr/>
        </p:nvSpPr>
        <p:spPr>
          <a:xfrm>
            <a:off x="6245352" y="1508760"/>
            <a:ext cx="5212080" cy="3657600"/>
          </a:xfrm>
          <a:prstGeom prst="roundRect">
            <a:avLst>
              <a:gd name="adj" fmla="val 3000"/>
            </a:avLst>
          </a:prstGeom>
          <a:solidFill>
            <a:srgbClr val="1B3F70"/>
          </a:solidFill>
          <a:ln w="12700">
            <a:solidFill>
              <a:srgbClr val="2E5A94"/>
            </a:solidFill>
            <a:prstDash val="solid"/>
          </a:ln>
        </p:spPr>
      </p:sp>
      <p:sp>
        <p:nvSpPr>
          <p:cNvPr id="9" name="Future work circle"/>
          <p:cNvSpPr/>
          <p:nvPr/>
        </p:nvSpPr>
        <p:spPr>
          <a:xfrm>
            <a:off x="6565392" y="1737360"/>
            <a:ext cx="640080" cy="640080"/>
          </a:xfrm>
          <a:prstGeom prst="ellipse">
            <a:avLst/>
          </a:prstGeom>
          <a:solidFill>
            <a:schemeClr val="accent2"/>
          </a:solidFill>
          <a:ln w="12700">
            <a:solidFill>
              <a:schemeClr val="accent2"/>
            </a:solidFill>
            <a:prstDash val="solid"/>
          </a:ln>
        </p:spPr>
      </p:sp>
      <p:pic>
        <p:nvPicPr>
          <p:cNvPr id="10" name="Future work icon" descr="Future work">    </p:cNvPr>
          <p:cNvPicPr>
            <a:picLocks noChangeAspect="1"/>
          </p:cNvPicPr>
          <p:nvPr/>
        </p:nvPicPr>
        <p:blipFill>
          <a:blip r:embed="rId2"/>
          <a:stretch>
            <a:fillRect/>
          </a:stretch>
        </p:blipFill>
        <p:spPr>
          <a:xfrm>
            <a:off x="6725412" y="1897380"/>
            <a:ext cx="320040" cy="320040"/>
          </a:xfrm>
          <a:prstGeom prst="rect">
            <a:avLst/>
          </a:prstGeom>
        </p:spPr>
      </p:pic>
      <p:sp>
        <p:nvSpPr>
          <p:cNvPr id="11" name="Text 7"/>
          <p:cNvSpPr txBox="1"/>
          <p:nvPr/>
        </p:nvSpPr>
        <p:spPr>
          <a:xfrm>
            <a:off x="7388352" y="1783080"/>
            <a:ext cx="3840480" cy="54864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Future work</a:t>
            </a:r>
            <a:endParaRPr lang="en-US" sz="2400" dirty="0"/>
          </a:p>
        </p:txBody>
      </p:sp>
      <p:sp>
        <p:nvSpPr>
          <p:cNvPr id="12" name="Text 8"/>
          <p:cNvSpPr txBox="1"/>
          <p:nvPr/>
        </p:nvSpPr>
        <p:spPr>
          <a:xfrm>
            <a:off x="6565392" y="2606040"/>
            <a:ext cx="457200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Connect directly to a real learning portal (LMS)</a:t>
            </a:r>
            <a:endParaRPr lang="en-US" sz="1600" dirty="0"/>
          </a:p>
          <a:p>
            <a:pPr marL="342900" indent="-342900">
              <a:spcAft>
                <a:spcPts val="1000"/>
              </a:spcAft>
              <a:buSzPct val="100000"/>
              <a:buChar char="•"/>
            </a:pPr>
            <a:r>
              <a:rPr lang="en-US" sz="1600" dirty="0">
                <a:solidFill>
                  <a:schemeClr val="bg1"/>
                </a:solidFill>
              </a:rPr>
              <a:t>Send alerts by email or SMS</a:t>
            </a:r>
            <a:endParaRPr lang="en-US" sz="1600" dirty="0"/>
          </a:p>
          <a:p>
            <a:pPr marL="342900" indent="-342900">
              <a:spcAft>
                <a:spcPts val="1000"/>
              </a:spcAft>
              <a:buSzPct val="100000"/>
              <a:buChar char="•"/>
            </a:pPr>
            <a:r>
              <a:rPr lang="en-US" sz="1600" dirty="0">
                <a:solidFill>
                  <a:schemeClr val="bg1"/>
                </a:solidFill>
              </a:rPr>
              <a:t>A separate view for students</a:t>
            </a:r>
            <a:endParaRPr lang="en-US" sz="1600" dirty="0"/>
          </a:p>
          <a:p>
            <a:pPr marL="342900" indent="-342900">
              <a:spcAft>
                <a:spcPts val="1000"/>
              </a:spcAft>
              <a:buSzPct val="100000"/>
              <a:buChar char="•"/>
            </a:pPr>
            <a:r>
              <a:rPr lang="en-US" sz="1600" dirty="0">
                <a:solidFill>
                  <a:schemeClr val="bg1"/>
                </a:solidFill>
              </a:rPr>
              <a:t>Try machine-learning prediction next to the rule-based score</a:t>
            </a:r>
            <a:endParaRPr lang="en-US" sz="1600" dirty="0"/>
          </a:p>
        </p:txBody>
      </p:sp>
      <p:sp>
        <p:nvSpPr>
          <p:cNvPr id="13" name="Text 9"/>
          <p:cNvSpPr txBox="1"/>
          <p:nvPr/>
        </p:nvSpPr>
        <p:spPr>
          <a:xfrm>
            <a:off x="731520" y="5532120"/>
            <a:ext cx="10698480" cy="64008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Thank you!  Questions?</a:t>
            </a:r>
            <a:endParaRPr lang="en-US" sz="3000" dirty="0"/>
          </a:p>
        </p:txBody>
      </p:sp>
    </p:spTree>
  </p:cSld>
  <p:clrMapOvr>
    <a:masterClrMapping/>
  </p:clrMapOvr>
</p:sld>
</file>

<file path=ppt/theme/theme1.xml><?xml version="1.0" encoding="utf-8"?>
<a:theme xmlns:a="http://schemas.openxmlformats.org/drawingml/2006/main" name="SE-EWRS">
  <a:themeElements>
    <a:clrScheme name="SE-EWRS">
      <a:dk1>
        <a:srgbClr val="1F2937"/>
      </a:dk1>
      <a:lt1>
        <a:srgbClr val="FFFFFF"/>
      </a:lt1>
      <a:dk2>
        <a:srgbClr val="13315C"/>
      </a:dk2>
      <a:lt2>
        <a:srgbClr val="EEF3FA"/>
      </a:lt2>
      <a:accent1>
        <a:srgbClr val="1E5AA8"/>
      </a:accent1>
      <a:accent2>
        <a:srgbClr val="E8A317"/>
      </a:accent2>
      <a:accent3>
        <a:srgbClr val="C0392B"/>
      </a:accent3>
      <a:accent4>
        <a:srgbClr val="2E9E5B"/>
      </a:accent4>
      <a:accent5>
        <a:srgbClr val="6B7280"/>
      </a:accent5>
      <a:accent6>
        <a:srgbClr val="0E7C86"/>
      </a:accent6>
      <a:hlink>
        <a:srgbClr val="1E5AA8"/>
      </a:hlink>
      <a:folHlink>
        <a:srgbClr val="6B2E8F"/>
      </a:folHlink>
    </a:clrScheme>
    <a:fontScheme name="SE-EW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SE-EWRS: Student Engagement &amp; Early Warning Risk System</dc:title>
  <dc:subject>PptxGenJS Presentation</dc:subject>
  <dc:creator>Mohammad Adnan, Lucky Dhall, Raja, Sumit</dc:creator>
  <cp:lastModifiedBy>Mohammad Adnan, Lucky Dhall, Raja, Sumit</cp:lastModifiedBy>
  <cp:revision>1</cp:revision>
  <dcterms:created xsi:type="dcterms:W3CDTF">2026-10-29T17:13:22Z</dcterms:created>
  <dcterms:modified xsi:type="dcterms:W3CDTF">2026-10-29T17:13:22Z</dcterms:modified>
</cp:coreProperties>
</file>